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3558"/>
          </a:solidFill>
          <a:ln w="12700">
            <a:solidFill>
              <a:srgbClr val="0B3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4652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CorrDiff | ERA5 → Radar Sumaré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829800" y="6446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de Mestrado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2808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2808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0 — qualidade e integridade do dataset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2237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qualquer interpretação meteorológica, shapes, máscara, timestamps e semântica do target foram auditados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056132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8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9963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87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Relatório Consolidado Fases 0–14, Seção 2.1.</a:t>
            </a:r>
            <a:endParaRPr lang="en-US" sz="77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24688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234440"/>
            <a:ext cx="64008" cy="1508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99032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5B6"/>
                </a:solidFill>
              </a:rPr>
              <a:t>1.016.208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3313D"/>
                </a:solidFill>
              </a:rPr>
              <a:t>patches alinhados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22960" y="2523744"/>
            <a:ext cx="2212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788"/>
                </a:solidFill>
              </a:rPr>
              <a:t>shape input: [N,12,32,32]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3246120" y="1234440"/>
            <a:ext cx="24688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234440"/>
            <a:ext cx="64008" cy="1508760"/>
          </a:xfrm>
          <a:prstGeom prst="rect">
            <a:avLst/>
          </a:prstGeom>
          <a:solidFill>
            <a:srgbClr val="1B8A89"/>
          </a:solidFill>
          <a:ln w="12700">
            <a:solidFill>
              <a:srgbClr val="1B8A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399032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8A89"/>
                </a:solidFill>
              </a:rPr>
              <a:t>84.684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29000" y="1874520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3313D"/>
                </a:solidFill>
              </a:rPr>
              <a:t>timestamps disponíveis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3429000" y="2523744"/>
            <a:ext cx="2212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788"/>
                </a:solidFill>
              </a:rPr>
              <a:t>de 122.736 esperados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5852160" y="1234440"/>
            <a:ext cx="24688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1234440"/>
            <a:ext cx="64008" cy="150876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399032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71A"/>
                </a:solidFill>
              </a:rPr>
              <a:t>69,00%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035040" y="1874520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3313D"/>
                </a:solidFill>
              </a:rPr>
              <a:t>cobertura temporal global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6035040" y="2523744"/>
            <a:ext cx="2212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788"/>
                </a:solidFill>
              </a:rPr>
              <a:t>38.052 horários ausentes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8458200" y="1234440"/>
            <a:ext cx="24688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58200" y="1234440"/>
            <a:ext cx="64008" cy="1508760"/>
          </a:xfrm>
          <a:prstGeom prst="rect">
            <a:avLst/>
          </a:prstGeom>
          <a:solidFill>
            <a:srgbClr val="4E9A51"/>
          </a:solidFill>
          <a:ln w="12700">
            <a:solidFill>
              <a:srgbClr val="4E9A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41080" y="1399032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E9A51"/>
                </a:solidFill>
              </a:rPr>
              <a:t>PASS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641080" y="1874520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3313D"/>
                </a:solidFill>
              </a:rPr>
              <a:t>auditoria cache → target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8641080" y="2523744"/>
            <a:ext cx="2212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788"/>
                </a:solidFill>
              </a:rPr>
              <a:t>erro máx. expm1 ≈ 7,63×10⁻⁶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640080" y="3063240"/>
            <a:ext cx="48920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33101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558"/>
                </a:solidFill>
              </a:rPr>
              <a:t>Cobertura observada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96112" y="3703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788"/>
                </a:solidFill>
              </a:rPr>
              <a:t>Primeiro timestamp disponível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2880360" y="36758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3313D"/>
                </a:solidFill>
              </a:rPr>
              <a:t>2011-01-17 19 UTC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96112" y="41513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788"/>
                </a:solidFill>
              </a:rPr>
              <a:t>Último timestamp disponível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2880360" y="41239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3313D"/>
                </a:solidFill>
              </a:rPr>
              <a:t>2024-12-31 23 UTC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96112" y="45994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788"/>
                </a:solidFill>
              </a:rPr>
              <a:t>Pixels válidos armazenados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2743200" y="45720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3313D"/>
                </a:solidFill>
              </a:rPr>
              <a:t>1.040.596.992 (100%)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742432" y="3063240"/>
            <a:ext cx="5184648" cy="2240280"/>
          </a:xfrm>
          <a:prstGeom prst="roundRect">
            <a:avLst>
              <a:gd name="adj" fmla="val 4082"/>
            </a:avLst>
          </a:prstGeom>
          <a:solidFill>
            <a:srgbClr val="EAF2F8"/>
          </a:solidFill>
          <a:ln w="10160">
            <a:solidFill>
              <a:srgbClr val="2E75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16752" y="334670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5B6"/>
                </a:solidFill>
              </a:rPr>
              <a:t>Conclusão da Fase 0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016752" y="3739896"/>
            <a:ext cx="452628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313D"/>
                </a:solidFill>
              </a:rPr>
              <a:t>O dataset é estruturalmente consistente. A principal limitação não é de shape ou máscara, mas de cobertura temporal incompleta e heterogênea — aspecto que se torna crítico em 2023–2024.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2808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— sparsidade extrema do radar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2237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 média numérica pode ser enganosa quando quase todos os pixels estão secos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056132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8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9963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87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Relatório Consolidado Fases 0–14, Seção 2.2.</a:t>
            </a:r>
            <a:endParaRPr lang="en-US" sz="77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498348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4813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558"/>
                </a:solidFill>
              </a:rPr>
              <a:t>Em nível de pixel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" y="1874520"/>
            <a:ext cx="4160520" cy="438912"/>
          </a:xfrm>
          <a:prstGeom prst="rect">
            <a:avLst/>
          </a:prstGeom>
          <a:solidFill>
            <a:srgbClr val="E7ECEF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1874520"/>
            <a:ext cx="61160" cy="438912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3865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71A"/>
                </a:solidFill>
              </a:rPr>
              <a:t>1,47% &gt; 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39312" y="238658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788"/>
                </a:solidFill>
              </a:rPr>
              <a:t>98,53% = 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6112" y="29077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558"/>
                </a:solidFill>
              </a:rPr>
              <a:t>Em nível de patch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6112" y="3300984"/>
            <a:ext cx="4160520" cy="438912"/>
          </a:xfrm>
          <a:prstGeom prst="rect">
            <a:avLst/>
          </a:prstGeom>
          <a:solidFill>
            <a:srgbClr val="E7ECEF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3300984"/>
            <a:ext cx="1243579" cy="438912"/>
          </a:xfrm>
          <a:prstGeom prst="rect">
            <a:avLst/>
          </a:prstGeom>
          <a:solidFill>
            <a:srgbClr val="1B8A89"/>
          </a:solidFill>
          <a:ln w="12700">
            <a:solidFill>
              <a:srgbClr val="1B8A8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8130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8A89"/>
                </a:solidFill>
              </a:rPr>
              <a:t>29,89% com eco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381304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788"/>
                </a:solidFill>
              </a:rPr>
              <a:t>70,11% sem eco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" y="47091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Amostra analítica: 32.768 patches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852160" y="1234440"/>
            <a:ext cx="507492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14813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558"/>
                </a:solidFill>
              </a:rPr>
              <a:t>Distribuição dos dBZ positivos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2212848"/>
            <a:ext cx="3794760" cy="0"/>
          </a:xfrm>
          <a:prstGeom prst="line">
            <a:avLst/>
          </a:prstGeom>
          <a:noFill/>
          <a:ln w="25400">
            <a:solidFill>
              <a:srgbClr val="AAB6C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89620" y="1984248"/>
            <a:ext cx="0" cy="457200"/>
          </a:xfrm>
          <a:prstGeom prst="line">
            <a:avLst/>
          </a:prstGeom>
          <a:noFill/>
          <a:ln w="3175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5572" y="2542032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788"/>
                </a:solidFill>
              </a:rPr>
              <a:t>mediana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023860" y="163677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5B6"/>
                </a:solidFill>
              </a:rPr>
              <a:t>25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8572" y="1984248"/>
            <a:ext cx="0" cy="457200"/>
          </a:xfrm>
          <a:prstGeom prst="line">
            <a:avLst/>
          </a:prstGeom>
          <a:noFill/>
          <a:ln w="31750">
            <a:solidFill>
              <a:srgbClr val="1B8A8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64524" y="2542032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788"/>
                </a:solidFill>
              </a:rPr>
              <a:t>p75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82812" y="163677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8A89"/>
                </a:solidFill>
              </a:rPr>
              <a:t>35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528048" y="1984248"/>
            <a:ext cx="0" cy="457200"/>
          </a:xfrm>
          <a:prstGeom prst="line">
            <a:avLst/>
          </a:prstGeom>
          <a:noFill/>
          <a:ln w="31750">
            <a:solidFill>
              <a:srgbClr val="E887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0" y="2542032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788"/>
                </a:solidFill>
              </a:rPr>
              <a:t>p90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162288" y="163677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871A"/>
                </a:solidFill>
              </a:rPr>
              <a:t>40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042617" y="1984248"/>
            <a:ext cx="0" cy="457200"/>
          </a:xfrm>
          <a:prstGeom prst="line">
            <a:avLst/>
          </a:prstGeom>
          <a:noFill/>
          <a:ln w="31750">
            <a:solidFill>
              <a:srgbClr val="C94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58569" y="2542032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788"/>
                </a:solidFill>
              </a:rPr>
              <a:t>p95/p99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676857" y="163677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4A4A"/>
                </a:solidFill>
              </a:rPr>
              <a:t>46,78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314432" y="212140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788"/>
                </a:solidFill>
              </a:rPr>
              <a:t>dBZ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36208" y="3246120"/>
            <a:ext cx="4315968" cy="1600200"/>
          </a:xfrm>
          <a:prstGeom prst="roundRect">
            <a:avLst>
              <a:gd name="adj" fmla="val 5714"/>
            </a:avLst>
          </a:prstGeom>
          <a:solidFill>
            <a:srgbClr val="FFF2E3"/>
          </a:solidFill>
          <a:ln w="10160">
            <a:solidFill>
              <a:srgbClr val="E887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0528" y="35387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E8871A"/>
                </a:solidFill>
              </a:rPr>
              <a:t>Implicação para treino e avaliação</a:t>
            </a:r>
            <a:endParaRPr lang="en-US" sz="1180" dirty="0"/>
          </a:p>
        </p:txBody>
      </p:sp>
      <p:sp>
        <p:nvSpPr>
          <p:cNvPr id="36" name="Text 34"/>
          <p:cNvSpPr/>
          <p:nvPr/>
        </p:nvSpPr>
        <p:spPr>
          <a:xfrm>
            <a:off x="6510528" y="3877056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3313D"/>
                </a:solidFill>
              </a:rPr>
              <a:t>Perdas e métricas dominadas por pixels secos podem parecer boas mesmo quando o modelo não representa ocorrência, intensidade ou extremos. Por isso as fases seguintes passam a separar explicitamente esses três aspectos.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2808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 — variáveis raw, derivadas e redundância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2237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derivadas ajudam a representar estrutura vertical e vento, mas não adicionam informação meteorológica independente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056132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8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9963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87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Relatório Consolidado Fases 0–14, Seção 2.3; Fase 17 para a organização por famílias.</a:t>
            </a:r>
            <a:endParaRPr lang="en-US" sz="77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2926080" cy="1874520"/>
          </a:xfrm>
          <a:prstGeom prst="roundRect">
            <a:avLst>
              <a:gd name="adj" fmla="val 4878"/>
            </a:avLst>
          </a:prstGeom>
          <a:solidFill>
            <a:srgbClr val="EAF2F8"/>
          </a:solidFill>
          <a:ln w="1016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5B6"/>
                </a:solidFill>
              </a:rPr>
              <a:t>Moisture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05740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3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tcwv   •   r_850   •   r_500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23360" y="1280160"/>
            <a:ext cx="2926080" cy="1874520"/>
          </a:xfrm>
          <a:prstGeom prst="roundRect">
            <a:avLst>
              <a:gd name="adj" fmla="val 4878"/>
            </a:avLst>
          </a:prstGeom>
          <a:solidFill>
            <a:srgbClr val="FFF2E3"/>
          </a:solidFill>
          <a:ln w="10160">
            <a:solidFill>
              <a:srgbClr val="E887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5544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871A"/>
                </a:solidFill>
              </a:rPr>
              <a:t>Thermal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24528" y="205740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3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t2m   •   t_850   •   t_500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06640" y="1280160"/>
            <a:ext cx="2926080" cy="1874520"/>
          </a:xfrm>
          <a:prstGeom prst="roundRect">
            <a:avLst>
              <a:gd name="adj" fmla="val 4878"/>
            </a:avLst>
          </a:prstGeom>
          <a:solidFill>
            <a:srgbClr val="E8F5F3"/>
          </a:solidFill>
          <a:ln w="10160">
            <a:solidFill>
              <a:srgbClr val="1B8A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5544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8A89"/>
                </a:solidFill>
              </a:rPr>
              <a:t>Dynamics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07808" y="205740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3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u10   •   v10   •   u_850   •   v_850   •   u_500   •   v_500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474720"/>
            <a:ext cx="66294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73075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558"/>
                </a:solidFill>
              </a:rPr>
              <a:t>8 variáveis derivadas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096512"/>
            <a:ext cx="25146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wind_speed_10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3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wind_speed_850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3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wind_speed_500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3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delta_t_500_850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767328" y="4096512"/>
            <a:ext cx="29718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delta_t_850_surface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3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delta_r_500_850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3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bulk_wind_diff_10_850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3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bulk_wind_diff_850_500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43800" y="3474720"/>
            <a:ext cx="3383280" cy="2057400"/>
          </a:xfrm>
          <a:prstGeom prst="roundRect">
            <a:avLst>
              <a:gd name="adj" fmla="val 4444"/>
            </a:avLst>
          </a:prstGeom>
          <a:solidFill>
            <a:srgbClr val="FBEAEA"/>
          </a:solidFill>
          <a:ln w="10160">
            <a:solidFill>
              <a:srgbClr val="C94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18120" y="37307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4A4A"/>
                </a:solidFill>
              </a:rPr>
              <a:t>Cuidados de interpretação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90688" y="4078224"/>
            <a:ext cx="2788920" cy="11704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= transformação determinística dos raw.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delta_t é diferença de temperatura; não rotular automaticamente como “instabilidade”.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bulk_wind_diff é diferença vetorial em m/s; não é shear normalizado por altura.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2808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3–4 — associação ERA5–radar e extremos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2237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sinal muda com a severidade: umidade domina eventos moderados; térmica/dinâmica ganha importância relativa na cauda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056132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8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3–4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9963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87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Relatório Consolidado Fases 0–14; Fase 4 v3.1. Valores abaixo são SMDs representativos documentados.</a:t>
            </a:r>
            <a:endParaRPr lang="en-US" sz="77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7635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499616"/>
            <a:ext cx="749808" cy="329184"/>
          </a:xfrm>
          <a:prstGeom prst="roundRect">
            <a:avLst>
              <a:gd name="adj" fmla="val 22222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72768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5B6"/>
                </a:solidFill>
              </a:rPr>
              <a:t>≥20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737360" y="14904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5B6"/>
                </a:solidFill>
              </a:rPr>
              <a:t>r500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50592" y="14813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3313D"/>
                </a:solidFill>
              </a:rPr>
              <a:t>+0,96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3337560" y="14904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5B6"/>
                </a:solidFill>
              </a:rPr>
              <a:t>tcwv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50792" y="14813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3313D"/>
                </a:solidFill>
              </a:rPr>
              <a:t>+0,92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6839712" y="149047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dirty="0">
                <a:solidFill>
                  <a:srgbClr val="667788"/>
                </a:solidFill>
              </a:rPr>
              <a:t>umidade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685800" y="2258568"/>
            <a:ext cx="7635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2432304"/>
            <a:ext cx="749808" cy="329184"/>
          </a:xfrm>
          <a:prstGeom prst="roundRect">
            <a:avLst>
              <a:gd name="adj" fmla="val 22222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505456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5B6"/>
                </a:solidFill>
              </a:rPr>
              <a:t>≥30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737360" y="24231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5B6"/>
                </a:solidFill>
              </a:rPr>
              <a:t>tcwv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450592" y="241401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3313D"/>
                </a:solidFill>
              </a:rPr>
              <a:t>+0,56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3337560" y="24231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871A"/>
                </a:solidFill>
              </a:rPr>
              <a:t>t850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050792" y="241401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3313D"/>
                </a:solidFill>
              </a:rPr>
              <a:t>+0,55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6839712" y="242316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dirty="0">
                <a:solidFill>
                  <a:srgbClr val="667788"/>
                </a:solidFill>
              </a:rPr>
              <a:t>transição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685800" y="3191256"/>
            <a:ext cx="7635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3364992"/>
            <a:ext cx="749808" cy="329184"/>
          </a:xfrm>
          <a:prstGeom prst="roundRect">
            <a:avLst>
              <a:gd name="adj" fmla="val 22222"/>
            </a:avLst>
          </a:prstGeom>
          <a:solidFill>
            <a:srgbClr val="FFF2E3"/>
          </a:solidFill>
          <a:ln w="12700">
            <a:solidFill>
              <a:srgbClr val="FFF2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438144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871A"/>
                </a:solidFill>
              </a:rPr>
              <a:t>≥40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737360" y="33558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871A"/>
                </a:solidFill>
              </a:rPr>
              <a:t>t850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450592" y="334670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3313D"/>
                </a:solidFill>
              </a:rPr>
              <a:t>+0,73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3337560" y="33558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871A"/>
                </a:solidFill>
              </a:rPr>
              <a:t>t500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050792" y="334670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3313D"/>
                </a:solidFill>
              </a:rPr>
              <a:t>+0,68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4937760" y="33558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8A89"/>
                </a:solidFill>
              </a:rPr>
              <a:t>ws10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50992" y="334670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3313D"/>
                </a:solidFill>
              </a:rPr>
              <a:t>−0,66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6839712" y="335584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dirty="0">
                <a:solidFill>
                  <a:srgbClr val="667788"/>
                </a:solidFill>
              </a:rPr>
              <a:t>térmica + dinâmica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685800" y="4123944"/>
            <a:ext cx="7635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4297680"/>
            <a:ext cx="749808" cy="329184"/>
          </a:xfrm>
          <a:prstGeom prst="roundRect">
            <a:avLst>
              <a:gd name="adj" fmla="val 22222"/>
            </a:avLst>
          </a:prstGeom>
          <a:solidFill>
            <a:srgbClr val="FFF2E3"/>
          </a:solidFill>
          <a:ln w="12700">
            <a:solidFill>
              <a:srgbClr val="FFF2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4370832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871A"/>
                </a:solidFill>
              </a:rPr>
              <a:t>≥45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737360" y="428853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871A"/>
                </a:solidFill>
              </a:rPr>
              <a:t>t500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450592" y="42793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3313D"/>
                </a:solidFill>
              </a:rPr>
              <a:t>+0,82</a:t>
            </a:r>
            <a:endParaRPr lang="en-US" sz="1120" dirty="0"/>
          </a:p>
        </p:txBody>
      </p:sp>
      <p:sp>
        <p:nvSpPr>
          <p:cNvPr id="37" name="Text 35"/>
          <p:cNvSpPr/>
          <p:nvPr/>
        </p:nvSpPr>
        <p:spPr>
          <a:xfrm>
            <a:off x="3337560" y="428853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8A89"/>
                </a:solidFill>
              </a:rPr>
              <a:t>ws10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050792" y="42793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3313D"/>
                </a:solidFill>
              </a:rPr>
              <a:t>−0,79</a:t>
            </a:r>
            <a:endParaRPr lang="en-US" sz="1120" dirty="0"/>
          </a:p>
        </p:txBody>
      </p:sp>
      <p:sp>
        <p:nvSpPr>
          <p:cNvPr id="39" name="Text 37"/>
          <p:cNvSpPr/>
          <p:nvPr/>
        </p:nvSpPr>
        <p:spPr>
          <a:xfrm>
            <a:off x="4937760" y="428853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871A"/>
                </a:solidFill>
              </a:rPr>
              <a:t>t850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650992" y="42793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3313D"/>
                </a:solidFill>
              </a:rPr>
              <a:t>+0,73</a:t>
            </a:r>
            <a:endParaRPr lang="en-US" sz="1120" dirty="0"/>
          </a:p>
        </p:txBody>
      </p:sp>
      <p:sp>
        <p:nvSpPr>
          <p:cNvPr id="41" name="Text 39"/>
          <p:cNvSpPr/>
          <p:nvPr/>
        </p:nvSpPr>
        <p:spPr>
          <a:xfrm>
            <a:off x="6839712" y="428853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dirty="0">
                <a:solidFill>
                  <a:srgbClr val="667788"/>
                </a:solidFill>
              </a:rPr>
              <a:t>extremos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8549640" y="1325880"/>
            <a:ext cx="2468880" cy="3529584"/>
          </a:xfrm>
          <a:prstGeom prst="roundRect">
            <a:avLst>
              <a:gd name="adj" fmla="val 3704"/>
            </a:avLst>
          </a:prstGeom>
          <a:solidFill>
            <a:srgbClr val="F1ECF8"/>
          </a:solidFill>
          <a:ln w="10160">
            <a:solidFill>
              <a:srgbClr val="7B61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23960" y="16002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1A8"/>
                </a:solidFill>
              </a:rPr>
              <a:t>Fase 3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823960" y="1920240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3313D"/>
                </a:solidFill>
              </a:rPr>
              <a:t>As correlações pixelwise globais são pequenas; os principais sinais estão associados a ocorrência e ambiente.</a:t>
            </a:r>
            <a:endParaRPr lang="en-US" sz="1080" dirty="0"/>
          </a:p>
        </p:txBody>
      </p:sp>
      <p:sp>
        <p:nvSpPr>
          <p:cNvPr id="45" name="Text 43"/>
          <p:cNvSpPr/>
          <p:nvPr/>
        </p:nvSpPr>
        <p:spPr>
          <a:xfrm>
            <a:off x="8823960" y="27889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4A4A"/>
                </a:solidFill>
              </a:rPr>
              <a:t>Fase 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823960" y="3108960"/>
            <a:ext cx="1965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3313D"/>
                </a:solidFill>
              </a:rPr>
              <a:t>Ao elevar o threshold, a assinatura meteorológica muda. r500 chega a inverter sinal em extremos — comportamento não monotônico/regime-dependente.</a:t>
            </a:r>
            <a:endParaRPr lang="en-US" sz="1080" dirty="0"/>
          </a:p>
        </p:txBody>
      </p:sp>
      <p:sp>
        <p:nvSpPr>
          <p:cNvPr id="47" name="Shape 45"/>
          <p:cNvSpPr/>
          <p:nvPr/>
        </p:nvSpPr>
        <p:spPr>
          <a:xfrm>
            <a:off x="685800" y="5138928"/>
            <a:ext cx="10332720" cy="566928"/>
          </a:xfrm>
          <a:prstGeom prst="roundRect">
            <a:avLst>
              <a:gd name="adj" fmla="val 16129"/>
            </a:avLst>
          </a:prstGeom>
          <a:solidFill>
            <a:srgbClr val="FBEAEA"/>
          </a:solidFill>
          <a:ln w="10160">
            <a:solidFill>
              <a:srgbClr val="C94A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60120" y="532180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C94A4A"/>
                </a:solidFill>
              </a:rPr>
              <a:t>≥50 dBZ: 163 pixels / 71 patches — cauda ultra-rara; útil para auditoria, não para conclusões robustas isoladas.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2808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5–6 — sazonalidade e ciclo diurno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2237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probabilidade de eventos intensos depende fortemente da estação e da hora local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056132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8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5–6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9963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87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Relatório Consolidado Fases 0–14, Fases 5–6 e Apêndice A.</a:t>
            </a:r>
            <a:endParaRPr lang="en-US" sz="77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31089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17320"/>
            <a:ext cx="64008" cy="155448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81912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71A"/>
                </a:solidFill>
              </a:rPr>
              <a:t>14,99%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20574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3313D"/>
                </a:solidFill>
              </a:rPr>
              <a:t>eventos ≥45 em DJF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68680" y="2752344"/>
            <a:ext cx="2852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788"/>
                </a:solidFill>
              </a:rPr>
              <a:t>taxa por timestamp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4160520" y="1417320"/>
            <a:ext cx="31089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0520" y="1417320"/>
            <a:ext cx="64008" cy="1554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1581912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5B6"/>
                </a:solidFill>
              </a:rPr>
              <a:t>2,18%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43400" y="20574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3313D"/>
                </a:solidFill>
              </a:rPr>
              <a:t>eventos ≥45 em JJA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343400" y="2752344"/>
            <a:ext cx="2852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788"/>
                </a:solidFill>
              </a:rPr>
              <a:t>taxa por timestamp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7635240" y="1417320"/>
            <a:ext cx="31089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35240" y="1417320"/>
            <a:ext cx="64008" cy="1554480"/>
          </a:xfrm>
          <a:prstGeom prst="rect">
            <a:avLst/>
          </a:prstGeom>
          <a:solidFill>
            <a:srgbClr val="1B8A89"/>
          </a:solidFill>
          <a:ln w="12700">
            <a:solidFill>
              <a:srgbClr val="1B8A8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1581912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8A89"/>
                </a:solidFill>
              </a:rPr>
              <a:t>13–14 h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818120" y="20574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3313D"/>
                </a:solidFill>
              </a:rPr>
              <a:t>pico local de eventos intensos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7818120" y="2752344"/>
            <a:ext cx="2852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788"/>
                </a:solidFill>
              </a:rPr>
              <a:t>razão pico/vale ~13,2 em ≥45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685800" y="3383280"/>
            <a:ext cx="47091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6758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558"/>
                </a:solidFill>
              </a:rPr>
              <a:t>Leitura científica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2688" y="3986784"/>
            <a:ext cx="4023360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extremos não são temporalmente uniformes.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Estação e hora local precisam aparecer em análises e métricas.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Missingness temporal pode se combinar com a sazonalidade.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0" y="338328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FFF2E3"/>
          </a:solidFill>
          <a:ln w="10160">
            <a:solidFill>
              <a:srgbClr val="E887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61888" y="36758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71A"/>
                </a:solidFill>
              </a:rPr>
              <a:t>Cuidado com delta_t_850_surface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61888" y="4041648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23313D"/>
                </a:solidFill>
              </a:rPr>
              <a:t>t850 − t2m fica mais negativo com o aquecimento diurno da superfície. Esse comportamento é consistente com o ciclo diário, mas não deve ser rotulado automaticamente como “instabilidade”.</a:t>
            </a:r>
            <a:endParaRPr lang="en-US" sz="11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2808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7–8 — memória temporal real, mas estrutura espacial evolui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2237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Persistência agregada é forte; a auditoria mostra que não se trata de duplicação generalizada do target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056132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8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7–8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9963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87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Relatório Consolidado Fases 0–14; Relatório Especializado Fase 8.</a:t>
            </a:r>
            <a:endParaRPr lang="en-US" sz="77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25146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325880"/>
            <a:ext cx="64008" cy="13258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490472"/>
            <a:ext cx="2258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5B6"/>
                </a:solidFill>
              </a:rPr>
              <a:t>73.977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1965960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3313D"/>
                </a:solidFill>
              </a:rPr>
              <a:t>pares exatos com lag 1 h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68680" y="2432304"/>
            <a:ext cx="2258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788"/>
                </a:solidFill>
              </a:rPr>
              <a:t>coverage temporal da Fase 7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3429000" y="1325880"/>
            <a:ext cx="25146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325880"/>
            <a:ext cx="64008" cy="132588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1490472"/>
            <a:ext cx="2258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71A"/>
                </a:solidFill>
              </a:rPr>
              <a:t>~21,1×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11880" y="1965960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3313D"/>
                </a:solidFill>
              </a:rPr>
              <a:t>RR de persistência em 1 h (≥45)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3611880" y="2432304"/>
            <a:ext cx="2258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788"/>
                </a:solidFill>
              </a:rPr>
              <a:t>P(evento|prev)=0,638 vs 0,030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172200" y="1325880"/>
            <a:ext cx="25146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325880"/>
            <a:ext cx="64008" cy="1325880"/>
          </a:xfrm>
          <a:prstGeom prst="rect">
            <a:avLst/>
          </a:prstGeom>
          <a:solidFill>
            <a:srgbClr val="1B8A89"/>
          </a:solidFill>
          <a:ln w="12700">
            <a:solidFill>
              <a:srgbClr val="1B8A8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490472"/>
            <a:ext cx="2258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8A89"/>
                </a:solidFill>
              </a:rPr>
              <a:t>0,283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355080" y="1965960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3313D"/>
                </a:solidFill>
              </a:rPr>
              <a:t>BSS logística temporal (≥45)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6355080" y="2432304"/>
            <a:ext cx="2258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788"/>
                </a:solidFill>
              </a:rPr>
              <a:t>Brier=0,0440 | AP=0,545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8915400" y="132588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15400" y="1325880"/>
            <a:ext cx="64008" cy="1325880"/>
          </a:xfrm>
          <a:prstGeom prst="rect">
            <a:avLst/>
          </a:prstGeom>
          <a:solidFill>
            <a:srgbClr val="7B61A8"/>
          </a:solidFill>
          <a:ln w="12700">
            <a:solidFill>
              <a:srgbClr val="7B61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98280" y="1490472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B61A8"/>
                </a:solidFill>
              </a:rPr>
              <a:t>0,097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098280" y="196596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3313D"/>
                </a:solidFill>
              </a:rPr>
              <a:t>BSS persistência 1 h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9098280" y="2432304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788"/>
                </a:solidFill>
              </a:rPr>
              <a:t>referência observacional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685800" y="2971800"/>
            <a:ext cx="49834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32552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558"/>
                </a:solidFill>
              </a:rPr>
              <a:t>Skill em ≥45 dBZ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2688" y="3813048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3313D"/>
                </a:solidFill>
              </a:rPr>
              <a:t>Persistência 1 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350008" y="3794760"/>
            <a:ext cx="2606040" cy="201168"/>
          </a:xfrm>
          <a:prstGeom prst="rect">
            <a:avLst/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50008" y="3794760"/>
            <a:ext cx="842620" cy="201168"/>
          </a:xfrm>
          <a:prstGeom prst="rect">
            <a:avLst/>
          </a:prstGeom>
          <a:solidFill>
            <a:srgbClr val="7B61A8"/>
          </a:solidFill>
          <a:ln w="12700">
            <a:solidFill>
              <a:srgbClr val="7B61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53128" y="378561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3515E"/>
                </a:solidFill>
              </a:rPr>
              <a:t>0,097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32688" y="4293108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3313D"/>
                </a:solidFill>
              </a:rPr>
              <a:t>Logística temporal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50008" y="4274820"/>
            <a:ext cx="2606040" cy="201168"/>
          </a:xfrm>
          <a:prstGeom prst="rect">
            <a:avLst/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50008" y="4274820"/>
            <a:ext cx="2458364" cy="201168"/>
          </a:xfrm>
          <a:prstGeom prst="rect">
            <a:avLst/>
          </a:prstGeom>
          <a:solidFill>
            <a:srgbClr val="1B8A89"/>
          </a:solidFill>
          <a:ln w="12700">
            <a:solidFill>
              <a:srgbClr val="1B8A8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53128" y="42656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3515E"/>
                </a:solidFill>
              </a:rPr>
              <a:t>0,283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32688" y="473659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67788"/>
                </a:solidFill>
              </a:rPr>
              <a:t>A logística usa múltiplos lags; esta coorte é condicionada por disponibilidade temporal e não é climatologia global.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5897880" y="2971800"/>
            <a:ext cx="5029200" cy="2240280"/>
          </a:xfrm>
          <a:prstGeom prst="roundRect">
            <a:avLst>
              <a:gd name="adj" fmla="val 4082"/>
            </a:avLst>
          </a:prstGeom>
          <a:solidFill>
            <a:srgbClr val="EAF2F8"/>
          </a:solidFill>
          <a:ln w="10160">
            <a:solidFill>
              <a:srgbClr val="2E75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32552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</a:rPr>
              <a:t>Auditoria de continuidade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17920" y="370332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E75B6"/>
                </a:solidFill>
              </a:rPr>
              <a:t>0,244%</a:t>
            </a:r>
            <a:endParaRPr lang="en-US" sz="2300" dirty="0"/>
          </a:p>
        </p:txBody>
      </p:sp>
      <p:sp>
        <p:nvSpPr>
          <p:cNvPr id="40" name="Text 38"/>
          <p:cNvSpPr/>
          <p:nvPr/>
        </p:nvSpPr>
        <p:spPr>
          <a:xfrm>
            <a:off x="7223760" y="373989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3313D"/>
                </a:solidFill>
              </a:rPr>
              <a:t>pares any_wet com target completo exatamente igual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6217920" y="43159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8871A"/>
                </a:solidFill>
              </a:rPr>
              <a:t>5,37%</a:t>
            </a:r>
            <a:endParaRPr lang="en-US" sz="2300" dirty="0"/>
          </a:p>
        </p:txBody>
      </p:sp>
      <p:sp>
        <p:nvSpPr>
          <p:cNvPr id="42" name="Text 40"/>
          <p:cNvSpPr/>
          <p:nvPr/>
        </p:nvSpPr>
        <p:spPr>
          <a:xfrm>
            <a:off x="7223760" y="435254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3313D"/>
                </a:solidFill>
              </a:rPr>
              <a:t>pares relevantes com fração ≥45 exatamente igual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6217920" y="48280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3313D"/>
                </a:solidFill>
              </a:rPr>
              <a:t>Conclusão: intensidade e extensão têm memória; a realização espacial fina continua evoluindo.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2808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9 — estrutura espacial própria do radar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2237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refletividade apresenta coerência espacial forte em pequena escala e anisotropia estatística EW &gt; 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056132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8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9963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87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Relatório Especializado Fase 9. Valores do gráfico são leituras aproximadas da curva consolidada.</a:t>
            </a:r>
            <a:endParaRPr lang="en-US" sz="770" dirty="0"/>
          </a:p>
        </p:txBody>
      </p:sp>
      <p:sp>
        <p:nvSpPr>
          <p:cNvPr id="6" name="Shape 4"/>
          <p:cNvSpPr/>
          <p:nvPr/>
        </p:nvSpPr>
        <p:spPr>
          <a:xfrm>
            <a:off x="594360" y="1188720"/>
            <a:ext cx="653796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4264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558"/>
                </a:solidFill>
              </a:rPr>
              <a:t>Correlação espacial do target log1p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44168" y="4663440"/>
            <a:ext cx="5074920" cy="0"/>
          </a:xfrm>
          <a:prstGeom prst="line">
            <a:avLst/>
          </a:prstGeom>
          <a:noFill/>
          <a:ln w="12700">
            <a:solidFill>
              <a:srgbClr val="96A2A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44168" y="1920240"/>
            <a:ext cx="0" cy="2743200"/>
          </a:xfrm>
          <a:prstGeom prst="line">
            <a:avLst/>
          </a:prstGeom>
          <a:noFill/>
          <a:ln w="12700">
            <a:solidFill>
              <a:srgbClr val="96A2A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44168" y="4663440"/>
            <a:ext cx="5074920" cy="0"/>
          </a:xfrm>
          <a:prstGeom prst="line">
            <a:avLst/>
          </a:prstGeom>
          <a:noFill/>
          <a:ln w="7620">
            <a:solidFill>
              <a:srgbClr val="E2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8114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788"/>
                </a:solidFill>
              </a:rPr>
              <a:t>0.2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344168" y="3977640"/>
            <a:ext cx="5074920" cy="0"/>
          </a:xfrm>
          <a:prstGeom prst="line">
            <a:avLst/>
          </a:prstGeom>
          <a:noFill/>
          <a:ln w="7620">
            <a:solidFill>
              <a:srgbClr val="E2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89534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788"/>
                </a:solidFill>
              </a:rPr>
              <a:t>0.4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344168" y="3291840"/>
            <a:ext cx="5074920" cy="0"/>
          </a:xfrm>
          <a:prstGeom prst="line">
            <a:avLst/>
          </a:prstGeom>
          <a:noFill/>
          <a:ln w="7620">
            <a:solidFill>
              <a:srgbClr val="E2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20954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788"/>
                </a:solidFill>
              </a:rPr>
              <a:t>0.5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344168" y="2606040"/>
            <a:ext cx="5074920" cy="0"/>
          </a:xfrm>
          <a:prstGeom prst="line">
            <a:avLst/>
          </a:prstGeom>
          <a:noFill/>
          <a:ln w="7620">
            <a:solidFill>
              <a:srgbClr val="E2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252374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788"/>
                </a:solidFill>
              </a:rPr>
              <a:t>0.7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344168" y="1920240"/>
            <a:ext cx="5074920" cy="0"/>
          </a:xfrm>
          <a:prstGeom prst="line">
            <a:avLst/>
          </a:prstGeom>
          <a:noFill/>
          <a:ln w="7620">
            <a:solidFill>
              <a:srgbClr val="E2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183794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788"/>
                </a:solidFill>
              </a:rPr>
              <a:t>0.8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79576" y="470916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788"/>
                </a:solidFill>
              </a:rPr>
              <a:t>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48306" y="470916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788"/>
                </a:solidFill>
              </a:rPr>
              <a:t>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717036" y="470916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788"/>
                </a:solidFill>
              </a:rPr>
              <a:t>8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85766" y="470916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788"/>
                </a:solidFill>
              </a:rPr>
              <a:t>16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54496" y="470916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788"/>
                </a:solidFill>
              </a:rPr>
              <a:t>32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303020" y="1970532"/>
            <a:ext cx="82296" cy="8229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44168" y="2011680"/>
            <a:ext cx="1268730" cy="502920"/>
          </a:xfrm>
          <a:prstGeom prst="line">
            <a:avLst/>
          </a:prstGeom>
          <a:noFill/>
          <a:ln w="26670">
            <a:solidFill>
              <a:srgbClr val="2E75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71750" y="2473452"/>
            <a:ext cx="82296" cy="8229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12898" y="2514600"/>
            <a:ext cx="1268730" cy="594360"/>
          </a:xfrm>
          <a:prstGeom prst="line">
            <a:avLst/>
          </a:prstGeom>
          <a:noFill/>
          <a:ln w="26670">
            <a:solidFill>
              <a:srgbClr val="2E75B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0" y="3067812"/>
            <a:ext cx="82296" cy="8229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81628" y="3108960"/>
            <a:ext cx="1268730" cy="594360"/>
          </a:xfrm>
          <a:prstGeom prst="line">
            <a:avLst/>
          </a:prstGeom>
          <a:noFill/>
          <a:ln w="26670">
            <a:solidFill>
              <a:srgbClr val="2E75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09210" y="3662172"/>
            <a:ext cx="82296" cy="8229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50358" y="3703320"/>
            <a:ext cx="1268730" cy="548640"/>
          </a:xfrm>
          <a:prstGeom prst="line">
            <a:avLst/>
          </a:prstGeom>
          <a:noFill/>
          <a:ln w="26670">
            <a:solidFill>
              <a:srgbClr val="2E75B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77940" y="4210812"/>
            <a:ext cx="82296" cy="8229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03020" y="2153412"/>
            <a:ext cx="82296" cy="82296"/>
          </a:xfrm>
          <a:prstGeom prst="ellipse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44168" y="2194560"/>
            <a:ext cx="1268730" cy="594360"/>
          </a:xfrm>
          <a:prstGeom prst="line">
            <a:avLst/>
          </a:prstGeom>
          <a:noFill/>
          <a:ln w="26670">
            <a:solidFill>
              <a:srgbClr val="E887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71750" y="2747772"/>
            <a:ext cx="82296" cy="82296"/>
          </a:xfrm>
          <a:prstGeom prst="ellipse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12898" y="2788920"/>
            <a:ext cx="1268730" cy="548640"/>
          </a:xfrm>
          <a:prstGeom prst="line">
            <a:avLst/>
          </a:prstGeom>
          <a:noFill/>
          <a:ln w="26670">
            <a:solidFill>
              <a:srgbClr val="E8871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0480" y="3296412"/>
            <a:ext cx="82296" cy="82296"/>
          </a:xfrm>
          <a:prstGeom prst="ellipse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81628" y="3337560"/>
            <a:ext cx="1268730" cy="594360"/>
          </a:xfrm>
          <a:prstGeom prst="line">
            <a:avLst/>
          </a:prstGeom>
          <a:noFill/>
          <a:ln w="26670">
            <a:solidFill>
              <a:srgbClr val="E8871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09210" y="3890772"/>
            <a:ext cx="82296" cy="82296"/>
          </a:xfrm>
          <a:prstGeom prst="ellipse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50358" y="3931920"/>
            <a:ext cx="1268730" cy="502920"/>
          </a:xfrm>
          <a:prstGeom prst="line">
            <a:avLst/>
          </a:prstGeom>
          <a:noFill/>
          <a:ln w="26670">
            <a:solidFill>
              <a:srgbClr val="E8871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77940" y="4393692"/>
            <a:ext cx="82296" cy="82296"/>
          </a:xfrm>
          <a:prstGeom prst="ellipse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35608" y="1938528"/>
            <a:ext cx="228600" cy="0"/>
          </a:xfrm>
          <a:prstGeom prst="line">
            <a:avLst/>
          </a:prstGeom>
          <a:noFill/>
          <a:ln w="29210">
            <a:solidFill>
              <a:srgbClr val="2E75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09928" y="186537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3313D"/>
                </a:solidFill>
              </a:rPr>
              <a:t>EW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487168" y="1938528"/>
            <a:ext cx="228600" cy="0"/>
          </a:xfrm>
          <a:prstGeom prst="line">
            <a:avLst/>
          </a:prstGeom>
          <a:noFill/>
          <a:ln w="29210">
            <a:solidFill>
              <a:srgbClr val="E8871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61488" y="186537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3313D"/>
                </a:solidFill>
              </a:rPr>
              <a:t>NS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287268" y="488289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788"/>
                </a:solidFill>
              </a:rPr>
              <a:t>Distância nominal (km)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 rot="16200000">
            <a:off x="822960" y="292608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788"/>
                </a:solidFill>
              </a:rPr>
              <a:t>Correlação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914400" y="507492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23313D"/>
                </a:solidFill>
              </a:rPr>
              <a:t>Primeiro lag medido com r &lt; 0,5: EW 16 km | NS 8 km | diagonal ~11,3 km</a:t>
            </a:r>
            <a:endParaRPr lang="en-US" sz="1070" dirty="0"/>
          </a:p>
        </p:txBody>
      </p:sp>
      <p:sp>
        <p:nvSpPr>
          <p:cNvPr id="50" name="Shape 48"/>
          <p:cNvSpPr/>
          <p:nvPr/>
        </p:nvSpPr>
        <p:spPr>
          <a:xfrm>
            <a:off x="7360920" y="1188720"/>
            <a:ext cx="3657600" cy="4526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44384" y="14630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558"/>
                </a:solidFill>
              </a:rPr>
              <a:t>O que a Fase 9 demonstra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607808" y="1874520"/>
            <a:ext cx="3017520" cy="2468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radar tem organização espacial; não é ruído branco.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EW permanece acima de NS em todos os lags medidos — anisotropia estatística, sem inferir causa física.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o aumento do threshold, os núcleos tendem a ficar mais compactos/coerentes dentro do patch.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32×32 limita a maior escala analisável e sofre efeitos de borda.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644384" y="47091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8A89"/>
                </a:solidFill>
              </a:rPr>
              <a:t>Implicação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7644384" y="498348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23313D"/>
                </a:solidFill>
              </a:rPr>
              <a:t>Métricas espaciais por escala, como FSS, são mais adequadas que erro pontual isolado.</a:t>
            </a:r>
            <a:endParaRPr lang="en-US" sz="10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2808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10 — ERA5 informa melhor o ambiente do que a localização fina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2237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associação cresce quando agregamos o patch; pixelwise e cross-offset permanecem muito fracos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056132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8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9963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87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Relatório Especializado Fase 10; Relatório Consolidado Fases 0–14, Seção 2.11.</a:t>
            </a:r>
            <a:endParaRPr lang="en-US" sz="770" dirty="0"/>
          </a:p>
        </p:txBody>
      </p:sp>
      <p:sp>
        <p:nvSpPr>
          <p:cNvPr id="6" name="Shape 4"/>
          <p:cNvSpPr/>
          <p:nvPr/>
        </p:nvSpPr>
        <p:spPr>
          <a:xfrm>
            <a:off x="594360" y="1188720"/>
            <a:ext cx="507492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463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558"/>
                </a:solidFill>
              </a:rPr>
              <a:t>Associação local / pixelwise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02996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3313D"/>
                </a:solidFill>
              </a:rPr>
              <a:t>r500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20240" y="2011680"/>
            <a:ext cx="2971800" cy="201168"/>
          </a:xfrm>
          <a:prstGeom prst="rect">
            <a:avLst/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2011680"/>
            <a:ext cx="2798445" cy="2011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2002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3515E"/>
                </a:solidFill>
              </a:rPr>
              <a:t>0,113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250240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3313D"/>
                </a:solidFill>
              </a:rPr>
              <a:t>tcwv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20240" y="2484120"/>
            <a:ext cx="2971800" cy="201168"/>
          </a:xfrm>
          <a:prstGeom prst="rect">
            <a:avLst/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2484120"/>
            <a:ext cx="2451735" cy="2011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24749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3515E"/>
                </a:solidFill>
              </a:rPr>
              <a:t>0,099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297484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3313D"/>
                </a:solidFill>
              </a:rPr>
              <a:t>delta_r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20240" y="2956560"/>
            <a:ext cx="2971800" cy="201168"/>
          </a:xfrm>
          <a:prstGeom prst="rect">
            <a:avLst/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20240" y="2956560"/>
            <a:ext cx="2105025" cy="2011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294741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3515E"/>
                </a:solidFill>
              </a:rPr>
              <a:t>0,085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77824" y="37490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C94A4A"/>
                </a:solidFill>
              </a:rPr>
              <a:t>Após centralização intra-patch: |r| tipicamente ~0,01–0,02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877824" y="4160520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13D"/>
                </a:solidFill>
              </a:rPr>
              <a:t>Cross-offset: melhores |r| em geral ≤ 0,02 — a baixa localização não é explicada por um deslocamento fixo simples.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97880" y="1188720"/>
            <a:ext cx="5120640" cy="4526280"/>
          </a:xfrm>
          <a:prstGeom prst="roundRect">
            <a:avLst>
              <a:gd name="adj" fmla="val 2020"/>
            </a:avLst>
          </a:prstGeom>
          <a:solidFill>
            <a:srgbClr val="E8F5F3"/>
          </a:solidFill>
          <a:ln w="10160">
            <a:solidFill>
              <a:srgbClr val="1B8A8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9632" y="1463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8A89"/>
                </a:solidFill>
              </a:rPr>
              <a:t>Associação em nível de patch com max_dbz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44768" y="202996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3313D"/>
                </a:solidFill>
              </a:rPr>
              <a:t>tcwv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42048" y="2011680"/>
            <a:ext cx="3017520" cy="201168"/>
          </a:xfrm>
          <a:prstGeom prst="rect">
            <a:avLst/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42048" y="2011680"/>
            <a:ext cx="2874585" cy="201168"/>
          </a:xfrm>
          <a:prstGeom prst="rect">
            <a:avLst/>
          </a:prstGeom>
          <a:solidFill>
            <a:srgbClr val="1B8A89"/>
          </a:solidFill>
          <a:ln w="12700">
            <a:solidFill>
              <a:srgbClr val="1B8A8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56648" y="2002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3515E"/>
                </a:solidFill>
              </a:rPr>
              <a:t>0,362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44768" y="250240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3313D"/>
                </a:solidFill>
              </a:rPr>
              <a:t>r500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42048" y="2484120"/>
            <a:ext cx="3017520" cy="201168"/>
          </a:xfrm>
          <a:prstGeom prst="rect">
            <a:avLst/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42048" y="2484120"/>
            <a:ext cx="2826940" cy="201168"/>
          </a:xfrm>
          <a:prstGeom prst="rect">
            <a:avLst/>
          </a:prstGeom>
          <a:solidFill>
            <a:srgbClr val="1B8A89"/>
          </a:solidFill>
          <a:ln w="12700">
            <a:solidFill>
              <a:srgbClr val="1B8A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56648" y="24749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3515E"/>
                </a:solidFill>
              </a:rPr>
              <a:t>0,356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44768" y="297484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3313D"/>
                </a:solidFill>
              </a:rPr>
              <a:t>r850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242048" y="2956560"/>
            <a:ext cx="3017520" cy="201168"/>
          </a:xfrm>
          <a:prstGeom prst="rect">
            <a:avLst/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42048" y="2956560"/>
            <a:ext cx="1953447" cy="201168"/>
          </a:xfrm>
          <a:prstGeom prst="rect">
            <a:avLst/>
          </a:prstGeom>
          <a:solidFill>
            <a:srgbClr val="1B8A89"/>
          </a:solidFill>
          <a:ln w="12700">
            <a:solidFill>
              <a:srgbClr val="1B8A8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56648" y="294741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3515E"/>
                </a:solidFill>
              </a:rPr>
              <a:t>0,246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99632" y="37490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0B3558"/>
                </a:solidFill>
              </a:rPr>
              <a:t>Contraste evento–background em ≥45</a:t>
            </a:r>
            <a:endParaRPr lang="en-US" sz="1130" dirty="0"/>
          </a:p>
        </p:txBody>
      </p:sp>
      <p:sp>
        <p:nvSpPr>
          <p:cNvPr id="37" name="Text 35"/>
          <p:cNvSpPr/>
          <p:nvPr/>
        </p:nvSpPr>
        <p:spPr>
          <a:xfrm>
            <a:off x="6199632" y="4078224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23313D"/>
                </a:solidFill>
              </a:rPr>
              <a:t>t2m e r850 maiores; wind_speed_10 menor; delta_t_850_surface mais negativo; bulk_wind_diff_10_850 menor.</a:t>
            </a:r>
            <a:endParaRPr lang="en-US" sz="1070" dirty="0"/>
          </a:p>
        </p:txBody>
      </p:sp>
      <p:sp>
        <p:nvSpPr>
          <p:cNvPr id="38" name="Text 36"/>
          <p:cNvSpPr/>
          <p:nvPr/>
        </p:nvSpPr>
        <p:spPr>
          <a:xfrm>
            <a:off x="6199632" y="482803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3313D"/>
                </a:solidFill>
              </a:rPr>
              <a:t>Leitura: há sinal meteorológico local, mas insuficiente para determinar coordenadas de núcleos convectivos.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2808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11 — separação formal de escalas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2237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ERA5 e radar carregam variabilidade predominantemente em suportes diferentes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056132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8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9963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87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Relatório Consolidado Fases 0–14, Figura 4; Relatório Especializado Fase 11.</a:t>
            </a:r>
            <a:endParaRPr lang="en-US" sz="770" dirty="0"/>
          </a:p>
        </p:txBody>
      </p:sp>
      <p:sp>
        <p:nvSpPr>
          <p:cNvPr id="6" name="Shape 4"/>
          <p:cNvSpPr/>
          <p:nvPr/>
        </p:nvSpPr>
        <p:spPr>
          <a:xfrm>
            <a:off x="594360" y="1188720"/>
            <a:ext cx="6629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pic>
        <p:nvPicPr>
          <p:cNvPr id="7" name="Image 0" descr="/mnt/data/corrdiff_deck_assets/crops/phase11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819916"/>
            <a:ext cx="6217920" cy="27152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98348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667788"/>
                </a:solidFill>
              </a:rPr>
              <a:t>Figura original: energia Haar do target e da máscara ≥45 em suportes nominais 4, 8, 16, 32 e 64 km.</a:t>
            </a:r>
            <a:endParaRPr lang="en-US" sz="970" dirty="0"/>
          </a:p>
        </p:txBody>
      </p:sp>
      <p:sp>
        <p:nvSpPr>
          <p:cNvPr id="9" name="Shape 6"/>
          <p:cNvSpPr/>
          <p:nvPr/>
        </p:nvSpPr>
        <p:spPr>
          <a:xfrm>
            <a:off x="7452360" y="118872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35824" y="14813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558"/>
                </a:solidFill>
              </a:rPr>
              <a:t>Resultados centrais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99248" y="1856232"/>
            <a:ext cx="288036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Predictors ERA5: &gt;91% da energia em suportes ≥32 km.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Radar: energia distribuída; parcela importante em 4–16 km.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Máscara ≥45 concentra grande energia em pequena escala.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Correlação Haar ERA5–radar ~0 em 4–8 km; cresce apenas modestamente em escalas maiores.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Coarse graining aumenta a associação, sobretudo em 16–32 km.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699248" y="4727448"/>
            <a:ext cx="2907792" cy="658368"/>
          </a:xfrm>
          <a:prstGeom prst="roundRect">
            <a:avLst>
              <a:gd name="adj" fmla="val 13889"/>
            </a:avLst>
          </a:prstGeom>
          <a:solidFill>
            <a:srgbClr val="FFF2E3"/>
          </a:solidFill>
          <a:ln w="10160">
            <a:solidFill>
              <a:srgbClr val="E887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82128" y="4882896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3313D"/>
                </a:solidFill>
              </a:rPr>
              <a:t>Conclusão: o CorrDiff precisa sintetizar variabilidade espacial que não está resolvida de forma independente no conditioning ERA5.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2808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12 — existe sinal multivariado no ERA5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2237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conditioning é útil para estado ambiental e intensidade potencial; maior complexidade não garante melhor calibração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056132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8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9963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87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Relatório Consolidado Fases 0–14, Figura 5; Relatório Especializado Fase 12.</a:t>
            </a:r>
            <a:endParaRPr lang="en-US" sz="770" dirty="0"/>
          </a:p>
        </p:txBody>
      </p:sp>
      <p:sp>
        <p:nvSpPr>
          <p:cNvPr id="6" name="Shape 4"/>
          <p:cNvSpPr/>
          <p:nvPr/>
        </p:nvSpPr>
        <p:spPr>
          <a:xfrm>
            <a:off x="594360" y="1170432"/>
            <a:ext cx="653796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pic>
        <p:nvPicPr>
          <p:cNvPr id="7" name="Image 0" descr="/mnt/data/corrdiff_deck_assets/crops/phase12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29867"/>
            <a:ext cx="6080760" cy="27295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48006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3313D"/>
                </a:solidFill>
              </a:rPr>
              <a:t>BSS médio: ~0,237 em &gt;0/≥20 → ~0,107 em ≥45 | ROC AUC: ~0,77 → ~0,87</a:t>
            </a:r>
            <a:endParaRPr lang="en-US" sz="1040" dirty="0"/>
          </a:p>
        </p:txBody>
      </p:sp>
      <p:sp>
        <p:nvSpPr>
          <p:cNvPr id="9" name="Text 6"/>
          <p:cNvSpPr/>
          <p:nvPr/>
        </p:nvSpPr>
        <p:spPr>
          <a:xfrm>
            <a:off x="868680" y="5129784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i="1" dirty="0">
                <a:solidFill>
                  <a:srgbClr val="667788"/>
                </a:solidFill>
              </a:rPr>
              <a:t>Os valores intermediários do gráfico são leituras aproximadas da figura consolidada.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7360920" y="1170432"/>
            <a:ext cx="3657600" cy="4526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35240" y="1444752"/>
            <a:ext cx="1417320" cy="1143000"/>
          </a:xfrm>
          <a:prstGeom prst="roundRect">
            <a:avLst>
              <a:gd name="adj" fmla="val 8000"/>
            </a:avLst>
          </a:prstGeom>
          <a:solidFill>
            <a:srgbClr val="F1ECF8"/>
          </a:solidFill>
          <a:ln w="10160">
            <a:solidFill>
              <a:srgbClr val="7B61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90688" y="16002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B61A8"/>
                </a:solidFill>
              </a:rPr>
              <a:t>10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7754112" y="196596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3313D"/>
                </a:solidFill>
              </a:rPr>
              <a:t>PCs para 90%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23313D"/>
                </a:solidFill>
              </a:rPr>
              <a:t>da variância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9235440" y="1444752"/>
            <a:ext cx="1417320" cy="11430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0160">
            <a:solidFill>
              <a:srgbClr val="2E75B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90888" y="16002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E75B6"/>
                </a:solidFill>
              </a:rPr>
              <a:t>12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9354312" y="196596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3313D"/>
                </a:solidFill>
              </a:rPr>
              <a:t>PCs para 95%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23313D"/>
                </a:solidFill>
              </a:rPr>
              <a:t>da variância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7635240" y="26791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667788"/>
                </a:solidFill>
              </a:rPr>
              <a:t>Condition number ≈ 76,1</a:t>
            </a:r>
            <a:endParaRPr lang="en-US" sz="980" dirty="0"/>
          </a:p>
        </p:txBody>
      </p:sp>
      <p:sp>
        <p:nvSpPr>
          <p:cNvPr id="18" name="Text 15"/>
          <p:cNvSpPr/>
          <p:nvPr/>
        </p:nvSpPr>
        <p:spPr>
          <a:xfrm>
            <a:off x="7635240" y="29992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</a:rPr>
              <a:t>Desenho experimental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607808" y="3310128"/>
            <a:ext cx="2926080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02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16.273 patches estratificados.</a:t>
            </a:r>
            <a:endParaRPr lang="en-US" sz="1020" dirty="0"/>
          </a:p>
          <a:p>
            <a:pPr marL="177800" indent="-177800">
              <a:buSzPct val="100000"/>
              <a:buChar char="•"/>
            </a:pPr>
            <a:r>
              <a:rPr lang="en-US" sz="102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means_only (20) vs means_plus_std (40).</a:t>
            </a:r>
            <a:endParaRPr lang="en-US" sz="1020" dirty="0"/>
          </a:p>
          <a:p>
            <a:pPr marL="177800" indent="-177800">
              <a:buSzPct val="100000"/>
              <a:buChar char="•"/>
            </a:pPr>
            <a:r>
              <a:rPr lang="en-US" sz="102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folds forward-chaining: passado → futuro.</a:t>
            </a:r>
            <a:endParaRPr lang="en-US" sz="1020" dirty="0"/>
          </a:p>
        </p:txBody>
      </p:sp>
      <p:sp>
        <p:nvSpPr>
          <p:cNvPr id="20" name="Text 17"/>
          <p:cNvSpPr/>
          <p:nvPr/>
        </p:nvSpPr>
        <p:spPr>
          <a:xfrm>
            <a:off x="7635240" y="44074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</a:rPr>
              <a:t>Leitura por famílias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635240" y="469087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23313D"/>
                </a:solidFill>
              </a:rPr>
              <a:t>Moisture domina eventos moderados; thermal ganha importância relativa em ≥40/≥45. Dynamics não é descartada.</a:t>
            </a:r>
            <a:endParaRPr lang="en-US" sz="10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2808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13 — regimes meteorológicos recorrentes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2237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Clusters definidos somente pelo ERA5; o radar entra depois para medir enrichment e persistência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056132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8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9963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87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Relatório Especializado Fases 13–14; Relatório Consolidado Fases 0–14.</a:t>
            </a:r>
            <a:endParaRPr lang="en-US" sz="770" dirty="0"/>
          </a:p>
        </p:txBody>
      </p:sp>
      <p:sp>
        <p:nvSpPr>
          <p:cNvPr id="6" name="Shape 4"/>
          <p:cNvSpPr/>
          <p:nvPr/>
        </p:nvSpPr>
        <p:spPr>
          <a:xfrm>
            <a:off x="594360" y="1170432"/>
            <a:ext cx="598932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447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558"/>
                </a:solidFill>
              </a:rPr>
              <a:t>Enriquecimento no regime R5 — espaço absoluto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029968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3313D"/>
                </a:solidFill>
              </a:rPr>
              <a:t>≥30 dBZ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0" y="2011680"/>
            <a:ext cx="3794760" cy="201168"/>
          </a:xfrm>
          <a:prstGeom prst="rect">
            <a:avLst/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2011680"/>
            <a:ext cx="3415284" cy="2011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2002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3515E"/>
                </a:solidFill>
              </a:rPr>
              <a:t>1,89×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2548128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3313D"/>
                </a:solidFill>
              </a:rPr>
              <a:t>≥40 dBZ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0" y="2529840"/>
            <a:ext cx="3794760" cy="201168"/>
          </a:xfrm>
          <a:prstGeom prst="rect">
            <a:avLst/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0" y="2529840"/>
            <a:ext cx="3523706" cy="201168"/>
          </a:xfrm>
          <a:prstGeom prst="rect">
            <a:avLst/>
          </a:prstGeom>
          <a:solidFill>
            <a:srgbClr val="1B8A89"/>
          </a:solidFill>
          <a:ln w="12700">
            <a:solidFill>
              <a:srgbClr val="1B8A8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252069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3515E"/>
                </a:solidFill>
              </a:rPr>
              <a:t>1,95×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" y="3066288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3313D"/>
                </a:solidFill>
              </a:rPr>
              <a:t>≥45 dBZ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0" y="3048000"/>
            <a:ext cx="3794760" cy="201168"/>
          </a:xfrm>
          <a:prstGeom prst="rect">
            <a:avLst/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0" y="3048000"/>
            <a:ext cx="3668268" cy="201168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30388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3515E"/>
                </a:solidFill>
              </a:rPr>
              <a:t>2,03×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32688" y="37947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71A"/>
                </a:solidFill>
              </a:rPr>
              <a:t>Absolute R5: taxa ≥45 ≈ 16,17% | RR ≈ 2,03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2688" y="418795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61A8"/>
                </a:solidFill>
              </a:rPr>
              <a:t>Anomaly R4: taxa ≥45 ≈ 14,03% | RR ≈ 1,76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2688" y="475488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3313D"/>
                </a:solidFill>
              </a:rPr>
              <a:t>Extremos aparecem em mais de um tipo de ambiente favorável.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812280" y="1170432"/>
            <a:ext cx="4206240" cy="452628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14032" y="1444752"/>
            <a:ext cx="1508760" cy="1078992"/>
          </a:xfrm>
          <a:prstGeom prst="roundRect">
            <a:avLst>
              <a:gd name="adj" fmla="val 8475"/>
            </a:avLst>
          </a:prstGeom>
          <a:solidFill>
            <a:srgbClr val="E8F5F3"/>
          </a:solidFill>
          <a:ln w="10160">
            <a:solidFill>
              <a:srgbClr val="1B8A8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78624" y="1609344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8A89"/>
                </a:solidFill>
              </a:rPr>
              <a:t>k=5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32904" y="193852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3313D"/>
                </a:solidFill>
              </a:rPr>
              <a:t>resolução descritiva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23313D"/>
                </a:solidFill>
              </a:rPr>
              <a:t>de referência</a:t>
            </a:r>
            <a:endParaRPr lang="en-US" sz="970" dirty="0"/>
          </a:p>
        </p:txBody>
      </p:sp>
      <p:sp>
        <p:nvSpPr>
          <p:cNvPr id="27" name="Text 25"/>
          <p:cNvSpPr/>
          <p:nvPr/>
        </p:nvSpPr>
        <p:spPr>
          <a:xfrm>
            <a:off x="7232904" y="2331720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667788"/>
                </a:solidFill>
              </a:rPr>
              <a:t>silhouette maior em k=3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8823960" y="1444752"/>
            <a:ext cx="1508760" cy="1078992"/>
          </a:xfrm>
          <a:prstGeom prst="roundRect">
            <a:avLst>
              <a:gd name="adj" fmla="val 8475"/>
            </a:avLst>
          </a:prstGeom>
          <a:solidFill>
            <a:srgbClr val="F1ECF8"/>
          </a:solidFill>
          <a:ln w="10160">
            <a:solidFill>
              <a:srgbClr val="7B61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88552" y="1609344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B61A8"/>
                </a:solidFill>
              </a:rPr>
              <a:t>7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942832" y="193852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3313D"/>
                </a:solidFill>
              </a:rPr>
              <a:t>PCs para ~90%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23313D"/>
                </a:solidFill>
              </a:rPr>
              <a:t>da variância</a:t>
            </a: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8942832" y="2331720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667788"/>
                </a:solidFill>
              </a:rPr>
              <a:t>absolute e anomaly</a:t>
            </a:r>
            <a:endParaRPr lang="en-US" sz="770" dirty="0"/>
          </a:p>
        </p:txBody>
      </p:sp>
      <p:sp>
        <p:nvSpPr>
          <p:cNvPr id="32" name="Text 30"/>
          <p:cNvSpPr/>
          <p:nvPr/>
        </p:nvSpPr>
        <p:spPr>
          <a:xfrm>
            <a:off x="7132320" y="28163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</a:rPr>
              <a:t>Estabilidade entre seeds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150608" y="312724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3313D"/>
                </a:solidFill>
              </a:rPr>
              <a:t>ARI absolute ~0,995</a:t>
            </a:r>
            <a:endParaRPr lang="en-US" sz="1220" dirty="0"/>
          </a:p>
          <a:p>
            <a:pPr indent="0" marL="0">
              <a:buNone/>
            </a:pPr>
            <a:r>
              <a:rPr lang="en-US" sz="1220" b="1" dirty="0">
                <a:solidFill>
                  <a:srgbClr val="23313D"/>
                </a:solidFill>
              </a:rPr>
              <a:t>ARI anomaly ~0,988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8851392" y="28163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</a:rPr>
              <a:t>Persistência 1 h dos regimes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887968" y="3172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8A89"/>
                </a:solidFill>
              </a:rPr>
              <a:t>~0,92–0,96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7132320" y="3931920"/>
            <a:ext cx="3611880" cy="1097280"/>
          </a:xfrm>
          <a:prstGeom prst="roundRect">
            <a:avLst>
              <a:gd name="adj" fmla="val 8333"/>
            </a:avLst>
          </a:prstGeom>
          <a:solidFill>
            <a:srgbClr val="FBEAEA"/>
          </a:solidFill>
          <a:ln w="10160">
            <a:solidFill>
              <a:srgbClr val="C94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88352" y="41879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4A4A"/>
                </a:solidFill>
              </a:rPr>
              <a:t>Cuidado terminológico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88352" y="448970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3313D"/>
                </a:solidFill>
              </a:rPr>
              <a:t>R1–R5 são estados estatísticos em PCA/KMeans — não classes meteorológicas físicas rígidas.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2808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14 — distribution shift e estabilidade temporal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2237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2023–2024 combinam queda de coverage, covariate shift e mudança na composição dos regimes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056132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8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9963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87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Relatório Consolidado Fases 0–14, Figuras 7–8; Relatório Especializado Fases 13–14.</a:t>
            </a:r>
            <a:endParaRPr lang="en-US" sz="77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598932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pic>
        <p:nvPicPr>
          <p:cNvPr id="7" name="Image 0" descr="/mnt/data/corrdiff_deck_assets/crops/phase14_coverage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78105"/>
            <a:ext cx="5486400" cy="244108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4599432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C94A4A"/>
                </a:solidFill>
              </a:rPr>
              <a:t>2023: 57,15% | 2024: 35,64% — 2024 é amostra temporal altamente selecionada</a:t>
            </a:r>
            <a:endParaRPr lang="en-US" sz="1070" dirty="0"/>
          </a:p>
        </p:txBody>
      </p:sp>
      <p:sp>
        <p:nvSpPr>
          <p:cNvPr id="9" name="Text 6"/>
          <p:cNvSpPr/>
          <p:nvPr/>
        </p:nvSpPr>
        <p:spPr>
          <a:xfrm>
            <a:off x="841248" y="500176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i="1" dirty="0">
                <a:solidFill>
                  <a:srgbClr val="667788"/>
                </a:solidFill>
              </a:rPr>
              <a:t>Linha tracejada da figura original: cobertura global ~69%.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6720840" y="1170432"/>
            <a:ext cx="4297680" cy="45262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04304" y="14447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</a:rPr>
              <a:t>Covariate shift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004304" y="1755648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13D"/>
                </a:solidFill>
              </a:rPr>
              <a:t>t500: SMD abs ~0,348 | anomaly ~0,388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313D"/>
                </a:solidFill>
              </a:rPr>
              <a:t>tcwv: ~0,198 | ~0,234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313D"/>
                </a:solidFill>
              </a:rPr>
              <a:t>2024 t500: SMD ~0,648 | PSI ~0,436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004304" y="2670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</a:rPr>
              <a:t>Mudança de composição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004304" y="2980944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13D"/>
                </a:solidFill>
              </a:rPr>
              <a:t>TV absolute ~0,073 | anomaly ~0,088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313D"/>
                </a:solidFill>
              </a:rPr>
              <a:t>R5 abs +5,14 pp | R2 −6,37 pp | R4 anomaly +6,90 pp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004304" y="38221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</a:rPr>
              <a:t>Decomposição da mudança em ≥45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059168" y="424281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3313D"/>
                </a:solidFill>
              </a:rPr>
              <a:t>Absolute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7790688" y="4224528"/>
            <a:ext cx="2239823" cy="2194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90688" y="4224528"/>
            <a:ext cx="2239823" cy="2194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030511" y="4224528"/>
            <a:ext cx="1006297" cy="219456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27848" y="4242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69%</a:t>
            </a:r>
            <a:endParaRPr lang="en-US" sz="870" dirty="0"/>
          </a:p>
        </p:txBody>
      </p:sp>
      <p:sp>
        <p:nvSpPr>
          <p:cNvPr id="21" name="Text 18"/>
          <p:cNvSpPr/>
          <p:nvPr/>
        </p:nvSpPr>
        <p:spPr>
          <a:xfrm>
            <a:off x="7059168" y="475488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3313D"/>
                </a:solidFill>
              </a:rPr>
              <a:t>Anomaly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7790688" y="4736592"/>
            <a:ext cx="2239823" cy="2194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90688" y="4736592"/>
            <a:ext cx="2077517" cy="2194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868205" y="4736592"/>
            <a:ext cx="1168603" cy="219456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927848" y="47548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64%</a:t>
            </a:r>
            <a:endParaRPr lang="en-US" sz="870" dirty="0"/>
          </a:p>
        </p:txBody>
      </p:sp>
      <p:sp>
        <p:nvSpPr>
          <p:cNvPr id="26" name="Text 23"/>
          <p:cNvSpPr/>
          <p:nvPr/>
        </p:nvSpPr>
        <p:spPr>
          <a:xfrm>
            <a:off x="7077456" y="534009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75B6"/>
                </a:solidFill>
              </a:rPr>
              <a:t>Composição de regimes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8732520" y="53400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871A"/>
                </a:solidFill>
              </a:rPr>
              <a:t>Within-regime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004304" y="555955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C94A4A"/>
                </a:solidFill>
              </a:rPr>
              <a:t>≥45: 7,84% → 9,12%, mas o IC bootstrap da diferença inclui zero. Evidência de concept drift amplo permaneceu fraca.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2808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15 — split temporal formal e governança contra leakage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2237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desenho experimental foi congelado antes do treinamento: aprender no passado, selecionar no futuro próximo e preservar testes reais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056132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8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9963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87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Relatório Especializado Fases 15–17.</a:t>
            </a:r>
            <a:endParaRPr lang="en-US" sz="770" dirty="0"/>
          </a:p>
        </p:txBody>
      </p:sp>
      <p:sp>
        <p:nvSpPr>
          <p:cNvPr id="6" name="Shape 4"/>
          <p:cNvSpPr/>
          <p:nvPr/>
        </p:nvSpPr>
        <p:spPr>
          <a:xfrm>
            <a:off x="713232" y="1490472"/>
            <a:ext cx="7543800" cy="502920"/>
          </a:xfrm>
          <a:prstGeom prst="rect">
            <a:avLst/>
          </a:prstGeom>
          <a:solidFill>
            <a:srgbClr val="EAF2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7507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558"/>
                </a:solidFill>
              </a:rPr>
              <a:t>TRAIN 2011–2020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57032" y="1490472"/>
            <a:ext cx="1508760" cy="502920"/>
          </a:xfrm>
          <a:prstGeom prst="rect">
            <a:avLst/>
          </a:prstGeom>
          <a:solidFill>
            <a:srgbClr val="E8F5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75320" y="1600200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8A89"/>
                </a:solidFill>
              </a:rPr>
              <a:t>VAL 2021–2022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765792" y="1490472"/>
            <a:ext cx="754380" cy="502920"/>
          </a:xfrm>
          <a:prstGeom prst="rect">
            <a:avLst/>
          </a:prstGeom>
          <a:solidFill>
            <a:srgbClr val="FFF2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0" y="160020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871A"/>
                </a:solidFill>
              </a:rPr>
              <a:t>TEST 2023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520172" y="1490472"/>
            <a:ext cx="754380" cy="502920"/>
          </a:xfrm>
          <a:prstGeom prst="rect">
            <a:avLst/>
          </a:prstGeom>
          <a:solidFill>
            <a:srgbClr val="FBEA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38460" y="160020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4A4A"/>
                </a:solidFill>
              </a:rPr>
              <a:t>STRESS/OOD 2024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34840" y="213969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4A4A"/>
                </a:solidFill>
              </a:rPr>
              <a:t>purge ±48 h nas fronteiras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578608"/>
            <a:ext cx="242316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2578608"/>
            <a:ext cx="64008" cy="1207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743200"/>
            <a:ext cx="2167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5B6"/>
                </a:solidFill>
              </a:rPr>
              <a:t>63.587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3218688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3313D"/>
                </a:solidFill>
              </a:rPr>
              <a:t>timestamps train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914400" y="3566160"/>
            <a:ext cx="2167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788"/>
                </a:solidFill>
              </a:rPr>
              <a:t>763.044 patches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3337560" y="2578608"/>
            <a:ext cx="242316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2578608"/>
            <a:ext cx="64008" cy="1207008"/>
          </a:xfrm>
          <a:prstGeom prst="rect">
            <a:avLst/>
          </a:prstGeom>
          <a:solidFill>
            <a:srgbClr val="1B8A89"/>
          </a:solidFill>
          <a:ln w="12700">
            <a:solidFill>
              <a:srgbClr val="1B8A8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743200"/>
            <a:ext cx="2167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8A89"/>
                </a:solidFill>
              </a:rPr>
              <a:t>12.828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520440" y="3218688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3313D"/>
                </a:solidFill>
              </a:rPr>
              <a:t>timestamps validation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3520440" y="3566160"/>
            <a:ext cx="2167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788"/>
                </a:solidFill>
              </a:rPr>
              <a:t>153.936 patches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5943600" y="2578608"/>
            <a:ext cx="242316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578608"/>
            <a:ext cx="64008" cy="1207008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2743200"/>
            <a:ext cx="2167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71A"/>
                </a:solidFill>
              </a:rPr>
              <a:t>4.966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126480" y="3218688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3313D"/>
                </a:solidFill>
              </a:rPr>
              <a:t>timestamps test 2023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6126480" y="3566160"/>
            <a:ext cx="2167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788"/>
                </a:solidFill>
              </a:rPr>
              <a:t>59.592 patches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8549640" y="2578608"/>
            <a:ext cx="242316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49640" y="2578608"/>
            <a:ext cx="64008" cy="1207008"/>
          </a:xfrm>
          <a:prstGeom prst="rect">
            <a:avLst/>
          </a:prstGeom>
          <a:solidFill>
            <a:srgbClr val="C94A4A"/>
          </a:solidFill>
          <a:ln w="12700">
            <a:solidFill>
              <a:srgbClr val="C94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32520" y="2743200"/>
            <a:ext cx="2167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4A4A"/>
                </a:solidFill>
              </a:rPr>
              <a:t>3.108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8732520" y="3218688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3313D"/>
                </a:solidFill>
              </a:rPr>
              <a:t>timestamps stress 2024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8732520" y="3566160"/>
            <a:ext cx="2167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788"/>
                </a:solidFill>
              </a:rPr>
              <a:t>37.296 patches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731520" y="4114800"/>
            <a:ext cx="102412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2688" y="438912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9A51"/>
                </a:solidFill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07008" y="43891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b="1" dirty="0">
                <a:solidFill>
                  <a:srgbClr val="23313D"/>
                </a:solidFill>
              </a:rPr>
              <a:t>Todos os 12 patches de um timestamp ficam no mesmo split</a:t>
            </a:r>
            <a:endParaRPr lang="en-US" sz="990" dirty="0"/>
          </a:p>
        </p:txBody>
      </p:sp>
      <p:sp>
        <p:nvSpPr>
          <p:cNvPr id="38" name="Text 36"/>
          <p:cNvSpPr/>
          <p:nvPr/>
        </p:nvSpPr>
        <p:spPr>
          <a:xfrm>
            <a:off x="4361688" y="43891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667788"/>
                </a:solidFill>
              </a:rPr>
              <a:t>Evita leakage espacial/meteorológico.</a:t>
            </a:r>
            <a:endParaRPr lang="en-US" sz="890" dirty="0"/>
          </a:p>
        </p:txBody>
      </p:sp>
      <p:sp>
        <p:nvSpPr>
          <p:cNvPr id="39" name="Text 37"/>
          <p:cNvSpPr/>
          <p:nvPr/>
        </p:nvSpPr>
        <p:spPr>
          <a:xfrm>
            <a:off x="5916168" y="438912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9A51"/>
                </a:solidFill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190488" y="43891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b="1" dirty="0">
                <a:solidFill>
                  <a:srgbClr val="23313D"/>
                </a:solidFill>
              </a:rPr>
              <a:t>Sem estratificação por target</a:t>
            </a:r>
            <a:endParaRPr lang="en-US" sz="990" dirty="0"/>
          </a:p>
        </p:txBody>
      </p:sp>
      <p:sp>
        <p:nvSpPr>
          <p:cNvPr id="41" name="Text 39"/>
          <p:cNvSpPr/>
          <p:nvPr/>
        </p:nvSpPr>
        <p:spPr>
          <a:xfrm>
            <a:off x="9345168" y="43891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667788"/>
                </a:solidFill>
              </a:rPr>
              <a:t>Preserva mudanças reais de distribuição.</a:t>
            </a:r>
            <a:endParaRPr lang="en-US" sz="890" dirty="0"/>
          </a:p>
        </p:txBody>
      </p:sp>
      <p:sp>
        <p:nvSpPr>
          <p:cNvPr id="42" name="Text 40"/>
          <p:cNvSpPr/>
          <p:nvPr/>
        </p:nvSpPr>
        <p:spPr>
          <a:xfrm>
            <a:off x="932688" y="4919472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9A51"/>
                </a:solidFill>
              </a:rPr>
              <a:t>✓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207008" y="49194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b="1" dirty="0">
                <a:solidFill>
                  <a:srgbClr val="23313D"/>
                </a:solidFill>
              </a:rPr>
              <a:t>Normalização e transforms data-dependent: train-only</a:t>
            </a:r>
            <a:endParaRPr lang="en-US" sz="990" dirty="0"/>
          </a:p>
        </p:txBody>
      </p:sp>
      <p:sp>
        <p:nvSpPr>
          <p:cNvPr id="44" name="Text 42"/>
          <p:cNvSpPr/>
          <p:nvPr/>
        </p:nvSpPr>
        <p:spPr>
          <a:xfrm>
            <a:off x="4361688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667788"/>
                </a:solidFill>
              </a:rPr>
              <a:t>Evita informação futura no preprocessing.</a:t>
            </a:r>
            <a:endParaRPr lang="en-US" sz="890" dirty="0"/>
          </a:p>
        </p:txBody>
      </p:sp>
      <p:sp>
        <p:nvSpPr>
          <p:cNvPr id="45" name="Text 43"/>
          <p:cNvSpPr/>
          <p:nvPr/>
        </p:nvSpPr>
        <p:spPr>
          <a:xfrm>
            <a:off x="5916168" y="4919472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9A51"/>
                </a:solidFill>
              </a:rPr>
              <a:t>✓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190488" y="49194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b="1" dirty="0">
                <a:solidFill>
                  <a:srgbClr val="23313D"/>
                </a:solidFill>
              </a:rPr>
              <a:t>2023 e 2024 bloqueados durante desenvolvimento</a:t>
            </a:r>
            <a:endParaRPr lang="en-US" sz="990" dirty="0"/>
          </a:p>
        </p:txBody>
      </p:sp>
      <p:sp>
        <p:nvSpPr>
          <p:cNvPr id="47" name="Text 45"/>
          <p:cNvSpPr/>
          <p:nvPr/>
        </p:nvSpPr>
        <p:spPr>
          <a:xfrm>
            <a:off x="9345168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667788"/>
                </a:solidFill>
              </a:rPr>
              <a:t>2024 nunca compõe o headline de 2023.</a:t>
            </a:r>
            <a:endParaRPr lang="en-US" sz="8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2808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16 — baselines clássicos: o piso que o CorrDiff precisa superar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2237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Médias melhoram levemente RMSE, mas falham completamente nos extremos; persistência preserva intensidade, não posição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056132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8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9963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87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Fase 16 v2.2 — validation e persistence_common; Relatório Especializado Fases 15–17.</a:t>
            </a:r>
            <a:endParaRPr lang="en-US" sz="770" dirty="0"/>
          </a:p>
        </p:txBody>
      </p:sp>
      <p:sp>
        <p:nvSpPr>
          <p:cNvPr id="6" name="Shape 4"/>
          <p:cNvSpPr/>
          <p:nvPr/>
        </p:nvSpPr>
        <p:spPr>
          <a:xfrm>
            <a:off x="594360" y="1170432"/>
            <a:ext cx="507492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447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558"/>
                </a:solidFill>
              </a:rPr>
              <a:t>RMSE global em log1p — validation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84248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3313D"/>
                </a:solidFill>
              </a:rPr>
              <a:t>Zero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75688" y="1965960"/>
            <a:ext cx="2834640" cy="201168"/>
          </a:xfrm>
          <a:prstGeom prst="rect">
            <a:avLst/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75688" y="1965960"/>
            <a:ext cx="2791246" cy="201168"/>
          </a:xfrm>
          <a:prstGeom prst="rect">
            <a:avLst/>
          </a:prstGeom>
          <a:solidFill>
            <a:srgbClr val="43515E"/>
          </a:solidFill>
          <a:ln w="12700">
            <a:solidFill>
              <a:srgbClr val="4351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07408" y="195681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3515E"/>
                </a:solidFill>
              </a:rPr>
              <a:t>0,3988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41248" y="2430018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3313D"/>
                </a:solidFill>
              </a:rPr>
              <a:t>Global mean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75688" y="2411730"/>
            <a:ext cx="2834640" cy="201168"/>
          </a:xfrm>
          <a:prstGeom prst="rect">
            <a:avLst/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75688" y="2411730"/>
            <a:ext cx="2767449" cy="2011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240258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3515E"/>
                </a:solidFill>
              </a:rPr>
              <a:t>0,3954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1248" y="2875788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3313D"/>
                </a:solidFill>
              </a:rPr>
              <a:t>Slot mean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75688" y="2857500"/>
            <a:ext cx="2834640" cy="201168"/>
          </a:xfrm>
          <a:prstGeom prst="rect">
            <a:avLst/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75688" y="2857500"/>
            <a:ext cx="2762549" cy="201168"/>
          </a:xfrm>
          <a:prstGeom prst="rect">
            <a:avLst/>
          </a:prstGeom>
          <a:solidFill>
            <a:srgbClr val="1B8A89"/>
          </a:solidFill>
          <a:ln w="12700">
            <a:solidFill>
              <a:srgbClr val="1B8A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07408" y="28483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3515E"/>
                </a:solidFill>
              </a:rPr>
              <a:t>0,3947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" y="3321558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3313D"/>
                </a:solidFill>
              </a:rPr>
              <a:t>Mês×hora×slot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075688" y="3303270"/>
            <a:ext cx="2834640" cy="201168"/>
          </a:xfrm>
          <a:prstGeom prst="rect">
            <a:avLst/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75688" y="3303270"/>
            <a:ext cx="2747851" cy="201168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07408" y="329412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3515E"/>
                </a:solidFill>
              </a:rPr>
              <a:t>0,3926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68680" y="4160520"/>
            <a:ext cx="4526280" cy="969264"/>
          </a:xfrm>
          <a:prstGeom prst="roundRect">
            <a:avLst>
              <a:gd name="adj" fmla="val 9434"/>
            </a:avLst>
          </a:prstGeom>
          <a:solidFill>
            <a:srgbClr val="FBEAEA"/>
          </a:solidFill>
          <a:ln w="10160">
            <a:solidFill>
              <a:srgbClr val="C94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4425696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4A4A"/>
                </a:solidFill>
              </a:rPr>
              <a:t>Climatologias médias: POD = CSI = FSS = 0 para ≥30 / ≥40 / ≥45 dBZ.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897880" y="1170432"/>
            <a:ext cx="512064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0488" y="144475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558"/>
                </a:solidFill>
              </a:rPr>
              <a:t>RMSE do máximo por patch — zero vs persistência 1 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200253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313D"/>
                </a:solidFill>
              </a:rPr>
              <a:t>Todos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040880" y="1920240"/>
            <a:ext cx="1316885" cy="182880"/>
          </a:xfrm>
          <a:prstGeom prst="rect">
            <a:avLst/>
          </a:prstGeom>
          <a:solidFill>
            <a:srgbClr val="A8B0B8"/>
          </a:solidFill>
          <a:ln w="12700">
            <a:solidFill>
              <a:srgbClr val="A8B0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40880" y="2167128"/>
            <a:ext cx="776345" cy="18288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42448" y="19110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3515E"/>
                </a:solidFill>
              </a:rPr>
              <a:t>18.15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10442448" y="215798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E8871A"/>
                </a:solidFill>
              </a:rPr>
              <a:t>10.70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6263640" y="26609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313D"/>
                </a:solidFill>
              </a:rPr>
              <a:t>≥30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040880" y="2578608"/>
            <a:ext cx="2852163" cy="182880"/>
          </a:xfrm>
          <a:prstGeom prst="rect">
            <a:avLst/>
          </a:prstGeom>
          <a:solidFill>
            <a:srgbClr val="A8B0B8"/>
          </a:solidFill>
          <a:ln w="12700">
            <a:solidFill>
              <a:srgbClr val="A8B0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40880" y="2825496"/>
            <a:ext cx="980952" cy="18288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42448" y="256946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3515E"/>
                </a:solidFill>
              </a:rPr>
              <a:t>39.31</a:t>
            </a:r>
            <a:endParaRPr lang="en-US" sz="840" dirty="0"/>
          </a:p>
        </p:txBody>
      </p:sp>
      <p:sp>
        <p:nvSpPr>
          <p:cNvPr id="37" name="Text 35"/>
          <p:cNvSpPr/>
          <p:nvPr/>
        </p:nvSpPr>
        <p:spPr>
          <a:xfrm>
            <a:off x="10442448" y="28163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E8871A"/>
                </a:solidFill>
              </a:rPr>
              <a:t>13.52</a:t>
            </a:r>
            <a:endParaRPr lang="en-US" sz="840" dirty="0"/>
          </a:p>
        </p:txBody>
      </p:sp>
      <p:sp>
        <p:nvSpPr>
          <p:cNvPr id="38" name="Text 36"/>
          <p:cNvSpPr/>
          <p:nvPr/>
        </p:nvSpPr>
        <p:spPr>
          <a:xfrm>
            <a:off x="6263640" y="331927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313D"/>
                </a:solidFill>
              </a:rPr>
              <a:t>≥40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040880" y="3236976"/>
            <a:ext cx="3130776" cy="182880"/>
          </a:xfrm>
          <a:prstGeom prst="rect">
            <a:avLst/>
          </a:prstGeom>
          <a:solidFill>
            <a:srgbClr val="A8B0B8"/>
          </a:solidFill>
          <a:ln w="12700">
            <a:solidFill>
              <a:srgbClr val="A8B0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40880" y="3483864"/>
            <a:ext cx="973697" cy="18288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442448" y="32278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3515E"/>
                </a:solidFill>
              </a:rPr>
              <a:t>43.15</a:t>
            </a:r>
            <a:endParaRPr lang="en-US" sz="840" dirty="0"/>
          </a:p>
        </p:txBody>
      </p:sp>
      <p:sp>
        <p:nvSpPr>
          <p:cNvPr id="42" name="Text 40"/>
          <p:cNvSpPr/>
          <p:nvPr/>
        </p:nvSpPr>
        <p:spPr>
          <a:xfrm>
            <a:off x="10442448" y="34747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E8871A"/>
                </a:solidFill>
              </a:rPr>
              <a:t>13.42</a:t>
            </a:r>
            <a:endParaRPr lang="en-US" sz="840" dirty="0"/>
          </a:p>
        </p:txBody>
      </p:sp>
      <p:sp>
        <p:nvSpPr>
          <p:cNvPr id="43" name="Text 41"/>
          <p:cNvSpPr/>
          <p:nvPr/>
        </p:nvSpPr>
        <p:spPr>
          <a:xfrm>
            <a:off x="6263640" y="397764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313D"/>
                </a:solidFill>
              </a:rPr>
              <a:t>≥45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040880" y="3895344"/>
            <a:ext cx="3267181" cy="182880"/>
          </a:xfrm>
          <a:prstGeom prst="rect">
            <a:avLst/>
          </a:prstGeom>
          <a:solidFill>
            <a:srgbClr val="A8B0B8"/>
          </a:solidFill>
          <a:ln w="12700">
            <a:solidFill>
              <a:srgbClr val="A8B0B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40880" y="4142232"/>
            <a:ext cx="1009249" cy="18288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442448" y="38862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3515E"/>
                </a:solidFill>
              </a:rPr>
              <a:t>45.03</a:t>
            </a:r>
            <a:endParaRPr lang="en-US" sz="840" dirty="0"/>
          </a:p>
        </p:txBody>
      </p:sp>
      <p:sp>
        <p:nvSpPr>
          <p:cNvPr id="47" name="Text 45"/>
          <p:cNvSpPr/>
          <p:nvPr/>
        </p:nvSpPr>
        <p:spPr>
          <a:xfrm>
            <a:off x="10442448" y="41330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E8871A"/>
                </a:solidFill>
              </a:rPr>
              <a:t>13.91</a:t>
            </a:r>
            <a:endParaRPr lang="en-US" sz="840" dirty="0"/>
          </a:p>
        </p:txBody>
      </p:sp>
      <p:sp>
        <p:nvSpPr>
          <p:cNvPr id="48" name="Text 46"/>
          <p:cNvSpPr/>
          <p:nvPr/>
        </p:nvSpPr>
        <p:spPr>
          <a:xfrm>
            <a:off x="7077456" y="46817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3515E"/>
                </a:solidFill>
              </a:rPr>
              <a:t>Zero</a:t>
            </a:r>
            <a:endParaRPr lang="en-US" sz="860" dirty="0"/>
          </a:p>
        </p:txBody>
      </p:sp>
      <p:sp>
        <p:nvSpPr>
          <p:cNvPr id="49" name="Text 47"/>
          <p:cNvSpPr/>
          <p:nvPr/>
        </p:nvSpPr>
        <p:spPr>
          <a:xfrm>
            <a:off x="7680960" y="46817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E8871A"/>
                </a:solidFill>
              </a:rPr>
              <a:t>Persistência 1 h</a:t>
            </a:r>
            <a:endParaRPr lang="en-US" sz="860" dirty="0"/>
          </a:p>
        </p:txBody>
      </p:sp>
      <p:sp>
        <p:nvSpPr>
          <p:cNvPr id="50" name="Text 48"/>
          <p:cNvSpPr/>
          <p:nvPr/>
        </p:nvSpPr>
        <p:spPr>
          <a:xfrm>
            <a:off x="6199632" y="5029200"/>
            <a:ext cx="4370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313D"/>
                </a:solidFill>
              </a:rPr>
              <a:t>Em ≥45: CSI ~0,0034 | POD ~0,0063 | FAR ~0,993 — forte intensidade, baixíssima coincidência pixel a pixel.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2808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16 — protocolo de métricas e handoff NVIDIA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2237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objetivo não é otimizar um único score, mas medir erro, evento, espaço, extremos e robustez sazonal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056132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8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9963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87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README_PHASE16 / Relatório Especializado Fases 15–17.</a:t>
            </a:r>
            <a:endParaRPr lang="en-US" sz="77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6903720" cy="3291840"/>
        </p:xfrm>
        <a:graphic>
          <a:graphicData uri="http://schemas.openxmlformats.org/drawingml/2006/table">
            <a:tbl>
              <a:tblPr/>
              <a:tblGrid>
                <a:gridCol w="1097280"/>
                <a:gridCol w="3291840"/>
                <a:gridCol w="25146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</a:rPr>
                        <a:t>Família</a:t>
                      </a:r>
                      <a:endParaRPr lang="en-US" sz="92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</a:rPr>
                        <a:t>Métricas / suportes</a:t>
                      </a:r>
                      <a:endParaRPr lang="en-US" sz="92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</a:rPr>
                        <a:t>Por que</a:t>
                      </a:r>
                      <a:endParaRPr lang="en-US" sz="92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3313D"/>
                          </a:solidFill>
                        </a:rPr>
                        <a:t>Pontual</a:t>
                      </a:r>
                      <a:endParaRPr lang="en-US" sz="92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3313D"/>
                          </a:solidFill>
                        </a:rPr>
                        <a:t>RMSE, MAE, bias em log1p e dBZ</a:t>
                      </a:r>
                      <a:endParaRPr lang="en-US" sz="92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3313D"/>
                          </a:solidFill>
                        </a:rPr>
                        <a:t>erro médio e viés</a:t>
                      </a:r>
                      <a:endParaRPr lang="en-US" sz="92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3313D"/>
                          </a:solidFill>
                        </a:rPr>
                        <a:t>Categórica</a:t>
                      </a:r>
                      <a:endParaRPr lang="en-US" sz="92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3313D"/>
                          </a:solidFill>
                        </a:rPr>
                        <a:t>20/30/40/45 dBZ: POD, FAR, CSI, ETS, F1, freq. bias</a:t>
                      </a:r>
                      <a:endParaRPr lang="en-US" sz="92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3313D"/>
                          </a:solidFill>
                        </a:rPr>
                        <a:t>eventos raros</a:t>
                      </a:r>
                      <a:endParaRPr lang="en-US" sz="92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3313D"/>
                          </a:solidFill>
                        </a:rPr>
                        <a:t>Espacial</a:t>
                      </a:r>
                      <a:endParaRPr lang="en-US" sz="92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3313D"/>
                          </a:solidFill>
                        </a:rPr>
                        <a:t>FSS em 2, 4, 8 e 16 km</a:t>
                      </a:r>
                      <a:endParaRPr lang="en-US" sz="92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3313D"/>
                          </a:solidFill>
                        </a:rPr>
                        <a:t>deslocamento e organização</a:t>
                      </a:r>
                      <a:endParaRPr lang="en-US" sz="92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3313D"/>
                          </a:solidFill>
                        </a:rPr>
                        <a:t>Extremos</a:t>
                      </a:r>
                      <a:endParaRPr lang="en-US" sz="92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3313D"/>
                          </a:solidFill>
                        </a:rPr>
                        <a:t>max por patch: todos, ≥30, ≥40, ≥45</a:t>
                      </a:r>
                      <a:endParaRPr lang="en-US" sz="92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3313D"/>
                          </a:solidFill>
                        </a:rPr>
                        <a:t>intensidade / suavização</a:t>
                      </a:r>
                      <a:endParaRPr lang="en-US" sz="92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3313D"/>
                          </a:solidFill>
                        </a:rPr>
                        <a:t>Sazonal</a:t>
                      </a:r>
                      <a:endParaRPr lang="en-US" sz="92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3313D"/>
                          </a:solidFill>
                        </a:rPr>
                        <a:t>DJF / MAM / JJA / SON</a:t>
                      </a:r>
                      <a:endParaRPr lang="en-US" sz="92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3313D"/>
                          </a:solidFill>
                        </a:rPr>
                        <a:t>skill dependente da estação</a:t>
                      </a:r>
                      <a:endParaRPr lang="en-US" sz="92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325880"/>
            <a:ext cx="3246120" cy="3291840"/>
          </a:xfrm>
          <a:prstGeom prst="roundRect">
            <a:avLst>
              <a:gd name="adj" fmla="val 2817"/>
            </a:avLst>
          </a:prstGeom>
          <a:solidFill>
            <a:srgbClr val="EAF2F8"/>
          </a:solidFill>
          <a:ln w="10160">
            <a:solidFill>
              <a:srgbClr val="2E75B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01584" y="16276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</a:rPr>
              <a:t>Auditoria v2.2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38160" y="201168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558"/>
                </a:solidFill>
              </a:rPr>
              <a:t>73.977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9162288" y="207568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3313D"/>
                </a:solidFill>
              </a:rPr>
              <a:t>timestamps com lag exato de 1 h</a:t>
            </a:r>
            <a:endParaRPr lang="en-US" sz="970" dirty="0"/>
          </a:p>
        </p:txBody>
      </p:sp>
      <p:sp>
        <p:nvSpPr>
          <p:cNvPr id="11" name="Text 8"/>
          <p:cNvSpPr/>
          <p:nvPr/>
        </p:nvSpPr>
        <p:spPr>
          <a:xfrm>
            <a:off x="8138160" y="267004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8A89"/>
                </a:solidFill>
              </a:rPr>
              <a:t>138.600 / 153.936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138160" y="299923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3313D"/>
                </a:solidFill>
              </a:rPr>
              <a:t>patches na validation em persistence_common (~90%)</a:t>
            </a:r>
            <a:endParaRPr lang="en-US" sz="980" dirty="0"/>
          </a:p>
        </p:txBody>
      </p:sp>
      <p:sp>
        <p:nvSpPr>
          <p:cNvPr id="13" name="Text 10"/>
          <p:cNvSpPr/>
          <p:nvPr/>
        </p:nvSpPr>
        <p:spPr>
          <a:xfrm>
            <a:off x="8138160" y="3749040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3313D"/>
                </a:solidFill>
              </a:rPr>
              <a:t>O manifesto temporal da Fase 15 passou a ser a fonte autoritativa de calendário.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685800" y="4901184"/>
            <a:ext cx="103784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5120640"/>
            <a:ext cx="9921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23313D"/>
                </a:solidFill>
              </a:rPr>
              <a:t>Handoff NVIDIA: índices por split + normalização train-only + contrato do dataset + thresholds + protocolo de métricas. A integração posterior não pode alterar silenciosamente canais, target ou avaliação.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2808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17 — desenho formal das ablações de conditioning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2237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fase não treina modelos: ela pré-registra as comparações que serão executadas no ambiente NVIDIA CorrDiff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056132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8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9963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87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Relatório Especializado Fases 15–17; contrato de ablações da Fase 17.</a:t>
            </a:r>
            <a:endParaRPr lang="en-US" sz="77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5715000" cy="4480560"/>
        </p:xfrm>
        <a:graphic>
          <a:graphicData uri="http://schemas.openxmlformats.org/drawingml/2006/table">
            <a:tbl>
              <a:tblPr/>
              <a:tblGrid>
                <a:gridCol w="594360"/>
                <a:gridCol w="2834640"/>
                <a:gridCol w="22860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Configuração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Categoria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3313D"/>
                          </a:solidFill>
                        </a:rPr>
                        <a:t>C00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3313D"/>
                          </a:solidFill>
                        </a:rPr>
                        <a:t>raw12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3313D"/>
                          </a:solidFill>
                        </a:rPr>
                        <a:t>referência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3313D"/>
                          </a:solidFill>
                        </a:rPr>
                        <a:t>C01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3313D"/>
                          </a:solidFill>
                        </a:rPr>
                        <a:t>moisture only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3313D"/>
                          </a:solidFill>
                        </a:rPr>
                        <a:t>suficiência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3313D"/>
                          </a:solidFill>
                        </a:rPr>
                        <a:t>C02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3313D"/>
                          </a:solidFill>
                        </a:rPr>
                        <a:t>thermal only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3313D"/>
                          </a:solidFill>
                        </a:rPr>
                        <a:t>suficiência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3313D"/>
                          </a:solidFill>
                        </a:rPr>
                        <a:t>C03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3313D"/>
                          </a:solidFill>
                        </a:rPr>
                        <a:t>dynamics only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3313D"/>
                          </a:solidFill>
                        </a:rPr>
                        <a:t>suficiência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3313D"/>
                          </a:solidFill>
                        </a:rPr>
                        <a:t>C04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3313D"/>
                          </a:solidFill>
                        </a:rPr>
                        <a:t>no dynamics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3313D"/>
                          </a:solidFill>
                        </a:rPr>
                        <a:t>necessidade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3313D"/>
                          </a:solidFill>
                        </a:rPr>
                        <a:t>C05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3313D"/>
                          </a:solidFill>
                        </a:rPr>
                        <a:t>no thermal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3313D"/>
                          </a:solidFill>
                        </a:rPr>
                        <a:t>necessidade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3313D"/>
                          </a:solidFill>
                        </a:rPr>
                        <a:t>C06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3313D"/>
                          </a:solidFill>
                        </a:rPr>
                        <a:t>no moisture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3313D"/>
                          </a:solidFill>
                        </a:rPr>
                        <a:t>necessidade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3313D"/>
                          </a:solidFill>
                        </a:rPr>
                        <a:t>C07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3313D"/>
                          </a:solidFill>
                        </a:rPr>
                        <a:t>raw12 + all derived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3313D"/>
                          </a:solidFill>
                        </a:rPr>
                        <a:t>representação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3313D"/>
                          </a:solidFill>
                        </a:rPr>
                        <a:t>C08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3313D"/>
                          </a:solidFill>
                        </a:rPr>
                        <a:t>raw12 + moisture derived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3313D"/>
                          </a:solidFill>
                        </a:rPr>
                        <a:t>representação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3313D"/>
                          </a:solidFill>
                        </a:rPr>
                        <a:t>C09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3313D"/>
                          </a:solidFill>
                        </a:rPr>
                        <a:t>raw12 + thermal derived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3313D"/>
                          </a:solidFill>
                        </a:rPr>
                        <a:t>representação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3313D"/>
                          </a:solidFill>
                        </a:rPr>
                        <a:t>C10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3313D"/>
                          </a:solidFill>
                        </a:rPr>
                        <a:t>raw12 + dynamics derived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23313D"/>
                          </a:solidFill>
                        </a:rPr>
                        <a:t>representação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510528" y="1234440"/>
            <a:ext cx="45262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84848" y="1527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558"/>
                </a:solidFill>
              </a:rPr>
              <a:t>Perguntas científicas diferentes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12280" y="1901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5B6"/>
                </a:solidFill>
              </a:rPr>
              <a:t>Suficiência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0" y="19019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3313D"/>
                </a:solidFill>
              </a:rPr>
              <a:t>C01–C03: quanto cada família explica sozinha?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6812280" y="22585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871A"/>
                </a:solidFill>
              </a:rPr>
              <a:t>Necessidade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72400" y="225856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3313D"/>
                </a:solidFill>
              </a:rPr>
              <a:t>C00 vs C04/C05/C06: o que se perde ao remover uma família?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6812280" y="270662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61A8"/>
                </a:solidFill>
              </a:rPr>
              <a:t>Representação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772400" y="2706624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3313D"/>
                </a:solidFill>
              </a:rPr>
              <a:t>C00 vs C07–C10: derived facilitam o aprendizado sem adicionar informação nova?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6510528" y="3456432"/>
            <a:ext cx="4526280" cy="2258568"/>
          </a:xfrm>
          <a:prstGeom prst="roundRect">
            <a:avLst>
              <a:gd name="adj" fmla="val 4049"/>
            </a:avLst>
          </a:prstGeom>
          <a:solidFill>
            <a:srgbClr val="E8F5F3"/>
          </a:solidFill>
          <a:ln w="10160">
            <a:solidFill>
              <a:srgbClr val="1B8A8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84848" y="37307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8A89"/>
                </a:solidFill>
              </a:rPr>
              <a:t>Campanhas pré-registradas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12280" y="41422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0B3558"/>
                </a:solidFill>
              </a:rPr>
              <a:t>Stage R — regression nativo</a:t>
            </a:r>
            <a:endParaRPr lang="en-US" sz="1070" dirty="0"/>
          </a:p>
        </p:txBody>
      </p:sp>
      <p:sp>
        <p:nvSpPr>
          <p:cNvPr id="18" name="Text 15"/>
          <p:cNvSpPr/>
          <p:nvPr/>
        </p:nvSpPr>
        <p:spPr>
          <a:xfrm>
            <a:off x="8759952" y="4142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70" b="1" dirty="0">
                <a:solidFill>
                  <a:srgbClr val="23313D"/>
                </a:solidFill>
              </a:rPr>
              <a:t>11 experimentos × 3 seeds = 33 runs</a:t>
            </a:r>
            <a:endParaRPr lang="en-US" sz="1070" dirty="0"/>
          </a:p>
        </p:txBody>
      </p:sp>
      <p:sp>
        <p:nvSpPr>
          <p:cNvPr id="19" name="Text 16"/>
          <p:cNvSpPr/>
          <p:nvPr/>
        </p:nvSpPr>
        <p:spPr>
          <a:xfrm>
            <a:off x="6812280" y="45262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0B3558"/>
                </a:solidFill>
              </a:rPr>
              <a:t>Stage D — CorrDiff confirmatório</a:t>
            </a:r>
            <a:endParaRPr lang="en-US" sz="1070" dirty="0"/>
          </a:p>
        </p:txBody>
      </p:sp>
      <p:sp>
        <p:nvSpPr>
          <p:cNvPr id="20" name="Text 17"/>
          <p:cNvSpPr/>
          <p:nvPr/>
        </p:nvSpPr>
        <p:spPr>
          <a:xfrm>
            <a:off x="6812280" y="484632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13D"/>
                </a:solidFill>
              </a:rPr>
              <a:t>C00, C04, C05, C06, C07 × 3 = 15 runs obrigatórios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812280" y="53035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C94A4A"/>
                </a:solidFill>
              </a:rPr>
              <a:t>Seeds fixas: 42, 43, 44 | 2023/2024 continuam bloqueados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2808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científica — por que CorrDiff é coerente com os dados?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2237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Fases 0–17 convergem para uma separação entre ambiente previsível e realização espacial fina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056132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8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9963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87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derivada exclusivamente dos resultados documentados das Fases 0–17.</a:t>
            </a:r>
            <a:endParaRPr lang="en-US" sz="770" dirty="0"/>
          </a:p>
        </p:txBody>
      </p:sp>
      <p:sp>
        <p:nvSpPr>
          <p:cNvPr id="6" name="Shape 4"/>
          <p:cNvSpPr/>
          <p:nvPr/>
        </p:nvSpPr>
        <p:spPr>
          <a:xfrm>
            <a:off x="685800" y="1481328"/>
            <a:ext cx="2834640" cy="3383280"/>
          </a:xfrm>
          <a:prstGeom prst="roundRect">
            <a:avLst>
              <a:gd name="adj" fmla="val 3226"/>
            </a:avLst>
          </a:prstGeom>
          <a:solidFill>
            <a:srgbClr val="F1ECF8"/>
          </a:solidFill>
          <a:ln w="10160">
            <a:solidFill>
              <a:srgbClr val="7B61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013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61A8"/>
                </a:solidFill>
              </a:rPr>
              <a:t>ERA5 conditioning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304288"/>
            <a:ext cx="22402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Regimes e contexto ambiental.</a:t>
            </a:r>
            <a:endParaRPr lang="en-US" sz="1070" dirty="0"/>
          </a:p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Umidade → ocorrência/moderados.</a:t>
            </a:r>
            <a:endParaRPr lang="en-US" sz="1070" dirty="0"/>
          </a:p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Térmica ganha importância em extremos.</a:t>
            </a:r>
            <a:endParaRPr lang="en-US" sz="1070" dirty="0"/>
          </a:p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persistência de estado ambiental.</a:t>
            </a:r>
            <a:endParaRPr lang="en-US" sz="1070" dirty="0"/>
          </a:p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Pouca localização fina pixel a pixel.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3685032" y="2651760"/>
            <a:ext cx="502920" cy="502920"/>
          </a:xfrm>
          <a:prstGeom prst="chevron">
            <a:avLst/>
          </a:prstGeom>
          <a:solidFill>
            <a:srgbClr val="AAB6C1"/>
          </a:solidFill>
          <a:ln w="12700">
            <a:solidFill>
              <a:srgbClr val="AAB6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1481328"/>
            <a:ext cx="2834640" cy="3383280"/>
          </a:xfrm>
          <a:prstGeom prst="roundRect">
            <a:avLst>
              <a:gd name="adj" fmla="val 3226"/>
            </a:avLst>
          </a:prstGeom>
          <a:solidFill>
            <a:srgbClr val="EAF2F8"/>
          </a:solidFill>
          <a:ln w="1016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8013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5B6"/>
                </a:solidFill>
              </a:rPr>
              <a:t>Regression model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53712" y="2441448"/>
            <a:ext cx="224028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 média / previsível.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Intensidade potencial e estrutura ampla.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 superar climatologias sem “apagar” extremos.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51192" y="2651760"/>
            <a:ext cx="502920" cy="502920"/>
          </a:xfrm>
          <a:prstGeom prst="chevron">
            <a:avLst/>
          </a:prstGeom>
          <a:solidFill>
            <a:srgbClr val="AAB6C1"/>
          </a:solidFill>
          <a:ln w="12700">
            <a:solidFill>
              <a:srgbClr val="AAB6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18120" y="1481328"/>
            <a:ext cx="2834640" cy="3383280"/>
          </a:xfrm>
          <a:prstGeom prst="roundRect">
            <a:avLst>
              <a:gd name="adj" fmla="val 3226"/>
            </a:avLst>
          </a:prstGeom>
          <a:solidFill>
            <a:srgbClr val="FFF2E3"/>
          </a:solidFill>
          <a:ln w="10160">
            <a:solidFill>
              <a:srgbClr val="E887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8013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71A"/>
                </a:solidFill>
              </a:rPr>
              <a:t>CorrDiff generativo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19872" y="2441448"/>
            <a:ext cx="224028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Variabilidade espacial fina.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Localização plausível de núcleos.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4–16 km.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Extremos e incerteza condicional.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51560" y="5157216"/>
            <a:ext cx="93268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8448" y="5330952"/>
            <a:ext cx="8823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23313D"/>
                </a:solidFill>
              </a:rPr>
              <a:t>Evidência-chave: ERA5 tem sinal ambiental e multivariado real, mas não resolve independentemente a estrutura espacial fina que o radar contém. Isso torna P(Radar | ERA5) plausivelmente multimodal.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2808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Potenciais e limitações do dataset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2237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valor científico do dataset está diretamente ligado a conhecer e preservar suas restrições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056132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8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9963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87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Relatório Consolidado Fases 0–14, Seção de limitações; Fases 15–17.</a:t>
            </a:r>
            <a:endParaRPr lang="en-US" sz="77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5074920" cy="4526280"/>
          </a:xfrm>
          <a:prstGeom prst="roundRect">
            <a:avLst>
              <a:gd name="adj" fmla="val 2020"/>
            </a:avLst>
          </a:prstGeom>
          <a:solidFill>
            <a:srgbClr val="E8F5F3"/>
          </a:solidFill>
          <a:ln w="10160">
            <a:solidFill>
              <a:srgbClr val="1B8A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727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8A89"/>
                </a:solidFill>
              </a:rPr>
              <a:t>Potenciais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1975104"/>
            <a:ext cx="4370832" cy="3108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Série longa 2011–2024 com pares ERA5–radar alinhados.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canais raw fisicamente interpretáveis em superfície, 850 e 500 hPa.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de 1 milhão de patches e 84 mil timestamps disponíveis.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possui estrutura espacial real em múltiplas escalas — alvo apropriado para downscaling generativo.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Sinal ERA5 multivariado positivo, regimes estáveis e hipóteses de ablação pré-registradas.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Protocolos de split, normalização, baselines e métricas já congelados.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989320" y="1234440"/>
            <a:ext cx="5074920" cy="4526280"/>
          </a:xfrm>
          <a:prstGeom prst="roundRect">
            <a:avLst>
              <a:gd name="adj" fmla="val 2020"/>
            </a:avLst>
          </a:prstGeom>
          <a:solidFill>
            <a:srgbClr val="FBEAEA"/>
          </a:solidFill>
          <a:ln w="10160">
            <a:solidFill>
              <a:srgbClr val="C94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5727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4A4A"/>
                </a:solidFill>
              </a:rPr>
              <a:t>Limitações / cuidados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91072" y="1975104"/>
            <a:ext cx="4389120" cy="3246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035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radar incompleta e heterogênea; missingness pode não ser aleatório.</a:t>
            </a:r>
            <a:endParaRPr lang="en-US" sz="1035" dirty="0"/>
          </a:p>
          <a:p>
            <a:pPr marL="177800" indent="-177800">
              <a:buSzPct val="100000"/>
              <a:buChar char="•"/>
            </a:pPr>
            <a:r>
              <a:rPr lang="en-US" sz="1035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Patches sobrepostos repetem pixels/estruturas e não são amostras IID.</a:t>
            </a:r>
            <a:endParaRPr lang="en-US" sz="1035" dirty="0"/>
          </a:p>
          <a:p>
            <a:pPr marL="177800" indent="-177800">
              <a:buSzPct val="100000"/>
              <a:buChar char="•"/>
            </a:pPr>
            <a:r>
              <a:rPr lang="en-US" sz="1035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ERA5 remapeado para ~2 km não ganha resolução física independente.</a:t>
            </a:r>
            <a:endParaRPr lang="en-US" sz="1035" dirty="0"/>
          </a:p>
          <a:p>
            <a:pPr marL="177800" indent="-177800">
              <a:buSzPct val="100000"/>
              <a:buChar char="•"/>
            </a:pPr>
            <a:r>
              <a:rPr lang="en-US" sz="1035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clipa dBZ negativos e aplica log1p: semântica deve permanecer explícita.</a:t>
            </a:r>
            <a:endParaRPr lang="en-US" sz="1035" dirty="0"/>
          </a:p>
          <a:p>
            <a:pPr marL="177800" indent="-177800">
              <a:buSzPct val="100000"/>
              <a:buChar char="•"/>
            </a:pPr>
            <a:r>
              <a:rPr lang="en-US" sz="1035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Análises espaciais são patch-based e sensíveis a bordas / truncamento.</a:t>
            </a:r>
            <a:endParaRPr lang="en-US" sz="1035" dirty="0"/>
          </a:p>
          <a:p>
            <a:pPr marL="177800" indent="-177800">
              <a:buSzPct val="100000"/>
              <a:buChar char="•"/>
            </a:pPr>
            <a:r>
              <a:rPr lang="en-US" sz="1035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≥45 e especialmente ≥50 têm incerteza maior por raridade.</a:t>
            </a:r>
            <a:endParaRPr lang="en-US" sz="1035" dirty="0"/>
          </a:p>
          <a:p>
            <a:pPr marL="177800" indent="-177800">
              <a:buSzPct val="100000"/>
              <a:buChar char="•"/>
            </a:pPr>
            <a:r>
              <a:rPr lang="en-US" sz="1035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combina forte shift com coverage de apenas 35,64% — usar como stress/OOD.</a:t>
            </a:r>
            <a:endParaRPr lang="en-US" sz="1035" dirty="0"/>
          </a:p>
          <a:p>
            <a:pPr marL="177800" indent="-177800">
              <a:buSzPct val="100000"/>
              <a:buChar char="•"/>
            </a:pPr>
            <a:r>
              <a:rPr lang="en-US" sz="1035" dirty="0">
                <a:solidFill>
                  <a:srgbClr val="233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são descritivos/preditivos, não causais.</a:t>
            </a:r>
            <a:endParaRPr lang="en-US" sz="103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2808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passo — iniciar os experimentos sem romper o protocolo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2237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daqui, o foco deixa de ser diagnóstico do dataset e passa para integração e treinamento nativo NVIDIA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056132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8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19963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i="1" dirty="0">
                <a:solidFill>
                  <a:srgbClr val="87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contrato experimental congelado nas Fases 15–17.</a:t>
            </a:r>
            <a:endParaRPr lang="en-US" sz="77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2240280" cy="2834640"/>
          </a:xfrm>
          <a:prstGeom prst="roundRect">
            <a:avLst>
              <a:gd name="adj" fmla="val 4082"/>
            </a:avLst>
          </a:prstGeom>
          <a:solidFill>
            <a:srgbClr val="EAF2F8"/>
          </a:solidFill>
          <a:ln w="1016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5B6"/>
                </a:solidFill>
              </a:rPr>
              <a:t>1. Integração nativa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578608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3313D"/>
                </a:solidFill>
              </a:rPr>
              <a:t>Dataset/DataLoader/Hydra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23313D"/>
                </a:solidFill>
              </a:rPr>
              <a:t>smoke tests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23313D"/>
                </a:solidFill>
              </a:rPr>
              <a:t>sem treino completo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3063240" y="2743200"/>
            <a:ext cx="347472" cy="438912"/>
          </a:xfrm>
          <a:prstGeom prst="chevron">
            <a:avLst/>
          </a:prstGeom>
          <a:solidFill>
            <a:srgbClr val="AAB6C1"/>
          </a:solidFill>
          <a:ln w="12700">
            <a:solidFill>
              <a:srgbClr val="AAB6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600200"/>
            <a:ext cx="2240280" cy="2834640"/>
          </a:xfrm>
          <a:prstGeom prst="roundRect">
            <a:avLst>
              <a:gd name="adj" fmla="val 4082"/>
            </a:avLst>
          </a:prstGeom>
          <a:solidFill>
            <a:srgbClr val="E8F5F3"/>
          </a:solidFill>
          <a:ln w="10160">
            <a:solidFill>
              <a:srgbClr val="1B8A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920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8A89"/>
                </a:solidFill>
              </a:rPr>
              <a:t>2. Stage 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2578608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3313D"/>
                </a:solidFill>
              </a:rPr>
              <a:t>C00–C10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23313D"/>
                </a:solidFill>
              </a:rPr>
              <a:t>seeds 42, 43, 44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23313D"/>
                </a:solidFill>
              </a:rPr>
              <a:t>train + validation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5760720" y="2743200"/>
            <a:ext cx="347472" cy="438912"/>
          </a:xfrm>
          <a:prstGeom prst="chevron">
            <a:avLst/>
          </a:prstGeom>
          <a:solidFill>
            <a:srgbClr val="AAB6C1"/>
          </a:solidFill>
          <a:ln w="12700">
            <a:solidFill>
              <a:srgbClr val="AAB6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600200"/>
            <a:ext cx="2240280" cy="2834640"/>
          </a:xfrm>
          <a:prstGeom prst="roundRect">
            <a:avLst>
              <a:gd name="adj" fmla="val 4082"/>
            </a:avLst>
          </a:prstGeom>
          <a:solidFill>
            <a:srgbClr val="FFF2E3"/>
          </a:solidFill>
          <a:ln w="10160">
            <a:solidFill>
              <a:srgbClr val="E887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920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71A"/>
                </a:solidFill>
              </a:rPr>
              <a:t>3. Stage 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2578608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3313D"/>
                </a:solidFill>
              </a:rPr>
              <a:t>C00, C04, C05, C06, C07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23313D"/>
                </a:solidFill>
              </a:rPr>
              <a:t>+ opcionais pré-declarados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23313D"/>
                </a:solidFill>
              </a:rPr>
              <a:t>CorrDiff completo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458200" y="2743200"/>
            <a:ext cx="347472" cy="438912"/>
          </a:xfrm>
          <a:prstGeom prst="chevron">
            <a:avLst/>
          </a:prstGeom>
          <a:solidFill>
            <a:srgbClr val="AAB6C1"/>
          </a:solidFill>
          <a:ln w="12700">
            <a:solidFill>
              <a:srgbClr val="AAB6C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1600200"/>
            <a:ext cx="2240280" cy="2834640"/>
          </a:xfrm>
          <a:prstGeom prst="roundRect">
            <a:avLst>
              <a:gd name="adj" fmla="val 4082"/>
            </a:avLst>
          </a:prstGeom>
          <a:solidFill>
            <a:srgbClr val="FBEAEA"/>
          </a:solidFill>
          <a:ln w="10160">
            <a:solidFill>
              <a:srgbClr val="C94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06840" y="1920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4A4A"/>
                </a:solidFill>
              </a:rPr>
              <a:t>4. Avaliação final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52560" y="2578608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3313D"/>
                </a:solidFill>
              </a:rPr>
              <a:t>2023 primary test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23313D"/>
                </a:solidFill>
              </a:rPr>
              <a:t>2024 stress/OOD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23313D"/>
                </a:solidFill>
              </a:rPr>
              <a:t>sempre separados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1097280" y="4846320"/>
            <a:ext cx="96012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89888" y="5074920"/>
            <a:ext cx="900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C94A4A"/>
                </a:solidFill>
              </a:rPr>
              <a:t>Princípio preservado: nenhuma decisão de arquitetura, conditioning, loss, checkpoint ou hiperparâmetro deve usar 2023/2024 antes do design freeze.</a:t>
            </a:r>
            <a:endParaRPr lang="en-US" sz="1160" dirty="0"/>
          </a:p>
        </p:txBody>
      </p:sp>
      <p:sp>
        <p:nvSpPr>
          <p:cNvPr id="23" name="Text 21"/>
          <p:cNvSpPr/>
          <p:nvPr/>
        </p:nvSpPr>
        <p:spPr>
          <a:xfrm>
            <a:off x="1280160" y="5669280"/>
            <a:ext cx="9235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23313D"/>
                </a:solidFill>
              </a:rPr>
              <a:t>Mensagem para a orientação: o projeto chega ao treinamento com hipóteses, baselines, métricas, splits e riscos do dataset já explicitados — o ganho do CorrDiff poderá ser interpretado de forma auditável.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2808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Projeto de Mestrado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CorrDiff - Dataset, resultados e protocolo experimental</dc:title>
  <dc:subject>CorrDiff ERA5 -&gt; Radar Sumaré | Fases 0 a 17</dc:subject>
  <dc:creator>OpenAI</dc:creator>
  <cp:lastModifiedBy>OpenAI</cp:lastModifiedBy>
  <cp:revision>1</cp:revision>
  <dcterms:created xsi:type="dcterms:W3CDTF">2026-10-02T19:01:41Z</dcterms:created>
  <dcterms:modified xsi:type="dcterms:W3CDTF">2026-10-02T19:01:41Z</dcterms:modified>
</cp:coreProperties>
</file>